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73" r:id="rId3"/>
    <p:sldId id="275" r:id="rId4"/>
    <p:sldId id="257" r:id="rId5"/>
    <p:sldId id="258" r:id="rId6"/>
    <p:sldId id="274"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6" r:id="rId22"/>
    <p:sldId id="277" r:id="rId23"/>
    <p:sldId id="278" r:id="rId24"/>
  </p:sldIdLst>
  <p:sldSz cx="9144000" cy="5143500" type="screen16x9"/>
  <p:notesSz cx="6858000" cy="9144000"/>
  <p:custDataLst>
    <p:tags r:id="rId26"/>
  </p:custData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158" autoAdjust="0"/>
  </p:normalViewPr>
  <p:slideViewPr>
    <p:cSldViewPr>
      <p:cViewPr varScale="1">
        <p:scale>
          <a:sx n="126" d="100"/>
          <a:sy n="126" d="100"/>
        </p:scale>
        <p:origin x="1194" y="10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9D7E31-2F1D-4E72-850C-81DE6C503FE7}" type="datetimeFigureOut">
              <a:rPr lang="en-US" smtClean="0"/>
              <a:t>2021-06-09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5B9B51-D91E-49D0-9B97-1B61F1D60F06}" type="slidenum">
              <a:rPr lang="en-US" smtClean="0"/>
              <a:t>‹#›</a:t>
            </a:fld>
            <a:endParaRPr lang="en-US"/>
          </a:p>
        </p:txBody>
      </p:sp>
    </p:spTree>
    <p:extLst>
      <p:ext uri="{BB962C8B-B14F-4D97-AF65-F5344CB8AC3E}">
        <p14:creationId xmlns:p14="http://schemas.microsoft.com/office/powerpoint/2010/main" val="23532583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E5B9B51-D91E-49D0-9B97-1B61F1D60F06}" type="slidenum">
              <a:rPr lang="en-US" smtClean="0"/>
              <a:t>17</a:t>
            </a:fld>
            <a:endParaRPr lang="en-US"/>
          </a:p>
        </p:txBody>
      </p:sp>
    </p:spTree>
    <p:extLst>
      <p:ext uri="{BB962C8B-B14F-4D97-AF65-F5344CB8AC3E}">
        <p14:creationId xmlns:p14="http://schemas.microsoft.com/office/powerpoint/2010/main" val="324179366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2" descr="E:\002-KIMS BUSINESS\007-bizdesign.tv\000-PPT FOR KMONG\PSD\13-05-14\모니터.pn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783637" y="646773"/>
            <a:ext cx="3420164" cy="2989145"/>
          </a:xfrm>
          <a:prstGeom prst="rect">
            <a:avLst/>
          </a:prstGeom>
          <a:noFill/>
          <a:extLst>
            <a:ext uri="{909E8E84-426E-40DD-AFC4-6F175D3DCCD1}">
              <a14:hiddenFill xmlns:a14="http://schemas.microsoft.com/office/drawing/2010/main">
                <a:solidFill>
                  <a:srgbClr val="FFFFFF"/>
                </a:solidFill>
              </a14:hiddenFill>
            </a:ext>
          </a:extLst>
        </p:spPr>
      </p:pic>
      <p:sp>
        <p:nvSpPr>
          <p:cNvPr id="3" name="Picture Placeholder 2"/>
          <p:cNvSpPr>
            <a:spLocks noGrp="1"/>
          </p:cNvSpPr>
          <p:nvPr>
            <p:ph type="pic" sz="quarter" idx="10" hasCustomPrompt="1"/>
          </p:nvPr>
        </p:nvSpPr>
        <p:spPr>
          <a:xfrm>
            <a:off x="2921827" y="762025"/>
            <a:ext cx="3145598" cy="1943075"/>
          </a:xfrm>
          <a:prstGeom prst="rect">
            <a:avLst/>
          </a:prstGeom>
          <a:solidFill>
            <a:schemeClr val="bg1"/>
          </a:solidFill>
        </p:spPr>
        <p:txBody>
          <a:bodyPr/>
          <a:lstStyle>
            <a:lvl1pPr marL="0" indent="0" algn="ctr">
              <a:buNone/>
              <a:defRPr sz="2800" baseline="0"/>
            </a:lvl1pPr>
          </a:lstStyle>
          <a:p>
            <a:r>
              <a:rPr lang="en-US" altLang="ko-KR" dirty="0"/>
              <a:t>Insert Image</a:t>
            </a:r>
            <a:endParaRPr lang="ko-KR" altLang="en-US" dirty="0"/>
          </a:p>
        </p:txBody>
      </p:sp>
    </p:spTree>
    <p:extLst>
      <p:ext uri="{BB962C8B-B14F-4D97-AF65-F5344CB8AC3E}">
        <p14:creationId xmlns:p14="http://schemas.microsoft.com/office/powerpoint/2010/main" val="22197685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0" y="0"/>
            <a:ext cx="9144000" cy="884466"/>
          </a:xfrm>
          <a:prstGeom prst="rect">
            <a:avLst/>
          </a:prstGeom>
        </p:spPr>
        <p:txBody>
          <a:bodyPr anchor="ctr"/>
          <a:lstStyle>
            <a:lvl1pPr algn="l">
              <a:defRPr/>
            </a:lvl1pPr>
          </a:lstStyle>
          <a:p>
            <a:r>
              <a:rPr lang="en-US" altLang="ko-KR" dirty="0"/>
              <a:t> Click to edit title</a:t>
            </a:r>
            <a:endParaRPr lang="ko-KR" altLang="en-US" dirty="0"/>
          </a:p>
        </p:txBody>
      </p:sp>
      <p:sp>
        <p:nvSpPr>
          <p:cNvPr id="3" name="Content Placeholder 2"/>
          <p:cNvSpPr>
            <a:spLocks noGrp="1"/>
          </p:cNvSpPr>
          <p:nvPr>
            <p:ph idx="1"/>
          </p:nvPr>
        </p:nvSpPr>
        <p:spPr>
          <a:xfrm>
            <a:off x="457200" y="1200151"/>
            <a:ext cx="8229600" cy="3394472"/>
          </a:xfrm>
          <a:prstGeom prst="rect">
            <a:avLst/>
          </a:prstGeom>
        </p:spPr>
        <p:txBody>
          <a:bodyPr/>
          <a:lstStyle/>
          <a:p>
            <a:pPr lvl="0"/>
            <a:r>
              <a:rPr lang="en-US" altLang="ko-KR" dirty="0"/>
              <a:t>Click to edit Master text styles</a:t>
            </a:r>
          </a:p>
        </p:txBody>
      </p:sp>
    </p:spTree>
    <p:extLst>
      <p:ext uri="{BB962C8B-B14F-4D97-AF65-F5344CB8AC3E}">
        <p14:creationId xmlns:p14="http://schemas.microsoft.com/office/powerpoint/2010/main" val="1146943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4000" b="1" cap="all"/>
            </a:lvl1pPr>
          </a:lstStyle>
          <a:p>
            <a:r>
              <a:rPr lang="en-US" altLang="ko-KR" dirty="0"/>
              <a:t>Click to edit title</a:t>
            </a:r>
            <a:endParaRPr lang="ko-KR" altLang="en-US" dirty="0"/>
          </a:p>
        </p:txBody>
      </p:sp>
      <p:sp>
        <p:nvSpPr>
          <p:cNvPr id="3" name="Text Placeholder 2"/>
          <p:cNvSpPr>
            <a:spLocks noGrp="1"/>
          </p:cNvSpPr>
          <p:nvPr>
            <p:ph type="body" idx="1"/>
          </p:nvPr>
        </p:nvSpPr>
        <p:spPr>
          <a:xfrm>
            <a:off x="722313" y="2180035"/>
            <a:ext cx="7772400" cy="1125140"/>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ko-KR"/>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11598060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0" y="0"/>
            <a:ext cx="6948264" cy="884466"/>
          </a:xfrm>
          <a:prstGeom prst="rect">
            <a:avLst/>
          </a:prstGeom>
        </p:spPr>
        <p:txBody>
          <a:bodyPr anchor="ctr"/>
          <a:lstStyle>
            <a:lvl1pPr algn="l">
              <a:defRPr/>
            </a:lvl1pPr>
          </a:lstStyle>
          <a:p>
            <a:r>
              <a:rPr lang="en-US" altLang="ko-KR" dirty="0"/>
              <a:t>Click to edit title</a:t>
            </a:r>
            <a:endParaRPr lang="ko-KR" altLang="en-US" dirty="0"/>
          </a:p>
        </p:txBody>
      </p:sp>
      <p:sp>
        <p:nvSpPr>
          <p:cNvPr id="3" name="Content Placeholder 2"/>
          <p:cNvSpPr>
            <a:spLocks noGrp="1"/>
          </p:cNvSpPr>
          <p:nvPr>
            <p:ph sz="half" idx="1"/>
          </p:nvPr>
        </p:nvSpPr>
        <p:spPr>
          <a:xfrm>
            <a:off x="457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Content Placeholder 3"/>
          <p:cNvSpPr>
            <a:spLocks noGrp="1"/>
          </p:cNvSpPr>
          <p:nvPr>
            <p:ph sz="half" idx="2"/>
          </p:nvPr>
        </p:nvSpPr>
        <p:spPr>
          <a:xfrm>
            <a:off x="4648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27566157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05979"/>
            <a:ext cx="8229600" cy="857250"/>
          </a:xfrm>
          <a:prstGeom prst="rect">
            <a:avLst/>
          </a:prstGeom>
        </p:spPr>
        <p:txBody>
          <a:bodyPr anchor="ctr"/>
          <a:lstStyle>
            <a:lvl1pPr algn="l">
              <a:defRPr/>
            </a:lvl1pPr>
          </a:lstStyle>
          <a:p>
            <a:r>
              <a:rPr lang="en-US" altLang="ko-KR" dirty="0"/>
              <a:t>Click to edit title</a:t>
            </a:r>
            <a:endParaRPr lang="ko-KR" altLang="en-US" dirty="0"/>
          </a:p>
        </p:txBody>
      </p:sp>
      <p:sp>
        <p:nvSpPr>
          <p:cNvPr id="3" name="Text Placeholder 2"/>
          <p:cNvSpPr>
            <a:spLocks noGrp="1"/>
          </p:cNvSpPr>
          <p:nvPr>
            <p:ph type="body" idx="1"/>
          </p:nvPr>
        </p:nvSpPr>
        <p:spPr>
          <a:xfrm>
            <a:off x="457200" y="1151335"/>
            <a:ext cx="4040188"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a:t>Click to edit Master text styles</a:t>
            </a:r>
          </a:p>
        </p:txBody>
      </p:sp>
      <p:sp>
        <p:nvSpPr>
          <p:cNvPr id="4" name="Content Placeholder 3"/>
          <p:cNvSpPr>
            <a:spLocks noGrp="1"/>
          </p:cNvSpPr>
          <p:nvPr>
            <p:ph sz="half" idx="2"/>
          </p:nvPr>
        </p:nvSpPr>
        <p:spPr>
          <a:xfrm>
            <a:off x="457200" y="1631156"/>
            <a:ext cx="4040188"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Text Placeholder 4"/>
          <p:cNvSpPr>
            <a:spLocks noGrp="1"/>
          </p:cNvSpPr>
          <p:nvPr>
            <p:ph type="body" sz="quarter" idx="3"/>
          </p:nvPr>
        </p:nvSpPr>
        <p:spPr>
          <a:xfrm>
            <a:off x="4645026" y="1151335"/>
            <a:ext cx="4041775"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a:t>Click to edit Master text styles</a:t>
            </a:r>
          </a:p>
        </p:txBody>
      </p:sp>
      <p:sp>
        <p:nvSpPr>
          <p:cNvPr id="6" name="Content Placeholder 5"/>
          <p:cNvSpPr>
            <a:spLocks noGrp="1"/>
          </p:cNvSpPr>
          <p:nvPr>
            <p:ph sz="quarter" idx="4"/>
          </p:nvPr>
        </p:nvSpPr>
        <p:spPr>
          <a:xfrm>
            <a:off x="4645026" y="1631156"/>
            <a:ext cx="4041775"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4017851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0" y="27216"/>
            <a:ext cx="6948264" cy="857250"/>
          </a:xfrm>
          <a:prstGeom prst="rect">
            <a:avLst/>
          </a:prstGeom>
        </p:spPr>
        <p:txBody>
          <a:bodyPr/>
          <a:lstStyle/>
          <a:p>
            <a:r>
              <a:rPr lang="en-US" altLang="ko-KR"/>
              <a:t>Click to edit Master title style</a:t>
            </a:r>
            <a:endParaRPr lang="ko-KR" altLang="en-US"/>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21761040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837280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a:prstGeom prst="rect">
            <a:avLst/>
          </a:prstGeom>
        </p:spPr>
        <p:txBody>
          <a:bodyPr anchor="b"/>
          <a:lstStyle>
            <a:lvl1pPr algn="l">
              <a:defRPr sz="2000" b="1"/>
            </a:lvl1pPr>
          </a:lstStyle>
          <a:p>
            <a:r>
              <a:rPr lang="en-US" altLang="ko-KR"/>
              <a:t>Click to edit Master title style</a:t>
            </a:r>
            <a:endParaRPr lang="ko-KR" altLang="en-US"/>
          </a:p>
        </p:txBody>
      </p:sp>
      <p:sp>
        <p:nvSpPr>
          <p:cNvPr id="3" name="Content Placeholder 2"/>
          <p:cNvSpPr>
            <a:spLocks noGrp="1"/>
          </p:cNvSpPr>
          <p:nvPr>
            <p:ph idx="1"/>
          </p:nvPr>
        </p:nvSpPr>
        <p:spPr>
          <a:xfrm>
            <a:off x="3575050" y="204788"/>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Text Placeholder 3"/>
          <p:cNvSpPr>
            <a:spLocks noGrp="1"/>
          </p:cNvSpPr>
          <p:nvPr>
            <p:ph type="body" sz="half" idx="2"/>
          </p:nvPr>
        </p:nvSpPr>
        <p:spPr>
          <a:xfrm>
            <a:off x="457201" y="1076326"/>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33670044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ltLang="ko-KR"/>
              <a:t>Click to edit Master title style</a:t>
            </a:r>
            <a:endParaRPr lang="ko-KR" altLang="en-US"/>
          </a:p>
        </p:txBody>
      </p:sp>
      <p:sp>
        <p:nvSpPr>
          <p:cNvPr id="3" name="Picture Placeholder 2"/>
          <p:cNvSpPr>
            <a:spLocks noGrp="1"/>
          </p:cNvSpPr>
          <p:nvPr>
            <p:ph type="pic" idx="1"/>
          </p:nvPr>
        </p:nvSpPr>
        <p:spPr>
          <a:xfrm>
            <a:off x="1792288" y="459581"/>
            <a:ext cx="5486400" cy="30861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Text Placeholder 3"/>
          <p:cNvSpPr>
            <a:spLocks noGrp="1"/>
          </p:cNvSpPr>
          <p:nvPr>
            <p:ph type="body" sz="half" idx="2"/>
          </p:nvPr>
        </p:nvSpPr>
        <p:spPr>
          <a:xfrm>
            <a:off x="1792288" y="4025503"/>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1713599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0" y="27216"/>
            <a:ext cx="6948264" cy="857250"/>
          </a:xfrm>
          <a:prstGeom prst="rect">
            <a:avLst/>
          </a:prstGeom>
        </p:spPr>
        <p:txBody>
          <a:bodyPr/>
          <a:lstStyle/>
          <a:p>
            <a:r>
              <a:rPr lang="en-US" altLang="ko-KR"/>
              <a:t>Click to edit Master title style</a:t>
            </a:r>
            <a:endParaRPr lang="ko-KR" altLang="en-US"/>
          </a:p>
        </p:txBody>
      </p:sp>
      <p:sp>
        <p:nvSpPr>
          <p:cNvPr id="3" name="Vertical Text Placeholder 2"/>
          <p:cNvSpPr>
            <a:spLocks noGrp="1"/>
          </p:cNvSpPr>
          <p:nvPr>
            <p:ph type="body" orient="vert" idx="1"/>
          </p:nvPr>
        </p:nvSpPr>
        <p:spPr>
          <a:xfrm>
            <a:off x="457200" y="1200151"/>
            <a:ext cx="8229600" cy="3394472"/>
          </a:xfrm>
          <a:prstGeom prst="rect">
            <a:avLst/>
          </a:prstGeom>
        </p:spPr>
        <p:txBody>
          <a:bodyPr vert="eaVert"/>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30255522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1"/>
            <a:ext cx="2057400" cy="3290888"/>
          </a:xfrm>
          <a:prstGeom prst="rect">
            <a:avLst/>
          </a:prstGeom>
        </p:spPr>
        <p:txBody>
          <a:bodyPr vert="eaVert"/>
          <a:lstStyle/>
          <a:p>
            <a:r>
              <a:rPr lang="en-US" altLang="ko-KR"/>
              <a:t>Click to edit Master title style</a:t>
            </a:r>
            <a:endParaRPr lang="ko-KR" altLang="en-US"/>
          </a:p>
        </p:txBody>
      </p:sp>
      <p:sp>
        <p:nvSpPr>
          <p:cNvPr id="3" name="Vertical Text Placeholder 2"/>
          <p:cNvSpPr>
            <a:spLocks noGrp="1"/>
          </p:cNvSpPr>
          <p:nvPr>
            <p:ph type="body" orient="vert" idx="1"/>
          </p:nvPr>
        </p:nvSpPr>
        <p:spPr>
          <a:xfrm>
            <a:off x="457200" y="154781"/>
            <a:ext cx="6019800" cy="3290888"/>
          </a:xfrm>
          <a:prstGeom prst="rect">
            <a:avLst/>
          </a:prstGeom>
        </p:spPr>
        <p:txBody>
          <a:bodyPr vert="eaVert"/>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DF8C5CDB-1AEF-4522-8EAF-CE1F4E5D863E}" type="datetimeFigureOut">
              <a:rPr lang="ko-KR" altLang="en-US" smtClean="0"/>
              <a:t>2021-06-09</a:t>
            </a:fld>
            <a:endParaRPr lang="ko-KR" alt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ko-KR" alt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83B0A39C-9AA3-4A83-82D7-24ADE085033F}" type="slidenum">
              <a:rPr lang="ko-KR" altLang="en-US" smtClean="0"/>
              <a:t>‹#›</a:t>
            </a:fld>
            <a:endParaRPr lang="ko-KR" altLang="en-US"/>
          </a:p>
        </p:txBody>
      </p:sp>
    </p:spTree>
    <p:extLst>
      <p:ext uri="{BB962C8B-B14F-4D97-AF65-F5344CB8AC3E}">
        <p14:creationId xmlns:p14="http://schemas.microsoft.com/office/powerpoint/2010/main" val="31130338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2391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3600" b="1" kern="1200">
          <a:solidFill>
            <a:schemeClr val="tx1"/>
          </a:solidFill>
          <a:latin typeface="Arial" pitchFamily="34" charset="0"/>
          <a:ea typeface="+mj-ea"/>
          <a:cs typeface="Arial" pitchFamily="34" charset="0"/>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create-react-app.dev/docs/adding-typescript/" TargetMode="External"/><Relationship Id="rId2" Type="http://schemas.openxmlformats.org/officeDocument/2006/relationships/hyperlink" Target="https://www.typescriptlang.org/docs/handbook/intro.htm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0" y="4304606"/>
            <a:ext cx="9144000" cy="276999"/>
          </a:xfrm>
          <a:prstGeom prst="rect">
            <a:avLst/>
          </a:prstGeom>
          <a:noFill/>
        </p:spPr>
        <p:txBody>
          <a:bodyPr wrap="square">
            <a:spAutoFit/>
          </a:bodyPr>
          <a:lstStyle/>
          <a:p>
            <a:pPr algn="ctr" fontAlgn="auto">
              <a:spcBef>
                <a:spcPts val="0"/>
              </a:spcBef>
              <a:spcAft>
                <a:spcPts val="0"/>
              </a:spcAft>
              <a:defRPr/>
            </a:pPr>
            <a:r>
              <a:rPr kumimoji="0" lang="en-US" altLang="ko-KR" sz="1200" b="1" dirty="0">
                <a:solidFill>
                  <a:schemeClr val="bg1">
                    <a:lumMod val="65000"/>
                  </a:schemeClr>
                </a:solidFill>
                <a:latin typeface="Calibri" pitchFamily="34" charset="0"/>
                <a:cs typeface="Calibri" pitchFamily="34" charset="0"/>
              </a:rPr>
              <a:t>Some brief presentation about advantage of using </a:t>
            </a:r>
            <a:r>
              <a:rPr kumimoji="0" lang="en-US" altLang="ko-KR" sz="1200" b="1" dirty="0" err="1">
                <a:solidFill>
                  <a:schemeClr val="bg1">
                    <a:lumMod val="65000"/>
                  </a:schemeClr>
                </a:solidFill>
                <a:latin typeface="Calibri" pitchFamily="34" charset="0"/>
                <a:cs typeface="Calibri" pitchFamily="34" charset="0"/>
              </a:rPr>
              <a:t>ts</a:t>
            </a:r>
            <a:r>
              <a:rPr kumimoji="0" lang="en-US" altLang="ko-KR" sz="1200" b="1" dirty="0">
                <a:solidFill>
                  <a:schemeClr val="bg1">
                    <a:lumMod val="65000"/>
                  </a:schemeClr>
                </a:solidFill>
                <a:latin typeface="Calibri" pitchFamily="34" charset="0"/>
                <a:cs typeface="Calibri" pitchFamily="34" charset="0"/>
              </a:rPr>
              <a:t> in react app</a:t>
            </a:r>
          </a:p>
        </p:txBody>
      </p:sp>
      <p:sp>
        <p:nvSpPr>
          <p:cNvPr id="12" name="TextBox 1"/>
          <p:cNvSpPr txBox="1">
            <a:spLocks noChangeArrowheads="1"/>
          </p:cNvSpPr>
          <p:nvPr/>
        </p:nvSpPr>
        <p:spPr bwMode="auto">
          <a:xfrm>
            <a:off x="0" y="3757117"/>
            <a:ext cx="9144000" cy="646331"/>
          </a:xfrm>
          <a:prstGeom prst="rect">
            <a:avLst/>
          </a:prstGeom>
          <a:noFill/>
          <a:ln w="9525">
            <a:noFill/>
            <a:miter lim="800000"/>
            <a:headEnd/>
            <a:tailEnd/>
          </a:ln>
        </p:spPr>
        <p:txBody>
          <a:bodyPr wrap="square">
            <a:spAutoFit/>
          </a:bodyPr>
          <a:lstStyle/>
          <a:p>
            <a:pPr algn="ctr"/>
            <a:r>
              <a:rPr lang="en-US" altLang="ko-KR" sz="3600" b="1" dirty="0">
                <a:solidFill>
                  <a:schemeClr val="tx1">
                    <a:lumMod val="65000"/>
                    <a:lumOff val="35000"/>
                  </a:schemeClr>
                </a:solidFill>
                <a:latin typeface="Calibri" pitchFamily="34" charset="0"/>
                <a:ea typeface="맑은 고딕" pitchFamily="50" charset="-127"/>
                <a:cs typeface="Calibri" pitchFamily="34" charset="0"/>
              </a:rPr>
              <a:t>Present by Shahrooz</a:t>
            </a:r>
          </a:p>
        </p:txBody>
      </p:sp>
      <p:pic>
        <p:nvPicPr>
          <p:cNvPr id="3" name="Picture Placeholder 2"/>
          <p:cNvPicPr>
            <a:picLocks noGrp="1" noChangeAspect="1"/>
          </p:cNvPicPr>
          <p:nvPr>
            <p:ph type="pic" sz="quarter" idx="10"/>
          </p:nvPr>
        </p:nvPicPr>
        <p:blipFill>
          <a:blip r:embed="rId2" cstate="print">
            <a:extLst>
              <a:ext uri="{28A0092B-C50C-407E-A947-70E740481C1C}">
                <a14:useLocalDpi xmlns:a14="http://schemas.microsoft.com/office/drawing/2010/main" val="0"/>
              </a:ext>
            </a:extLst>
          </a:blip>
          <a:srcRect t="3713" b="3713"/>
          <a:stretch>
            <a:fillRect/>
          </a:stretch>
        </p:blipFill>
        <p:spPr>
          <a:xfrm>
            <a:off x="3131840" y="843558"/>
            <a:ext cx="2880320" cy="1584176"/>
          </a:xfrm>
        </p:spPr>
      </p:pic>
    </p:spTree>
    <p:extLst>
      <p:ext uri="{BB962C8B-B14F-4D97-AF65-F5344CB8AC3E}">
        <p14:creationId xmlns:p14="http://schemas.microsoft.com/office/powerpoint/2010/main" val="3034478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D08A6-6144-49F7-B52F-8308B6F5D772}"/>
              </a:ext>
            </a:extLst>
          </p:cNvPr>
          <p:cNvSpPr>
            <a:spLocks noGrp="1"/>
          </p:cNvSpPr>
          <p:nvPr>
            <p:ph type="title"/>
          </p:nvPr>
        </p:nvSpPr>
        <p:spPr>
          <a:xfrm>
            <a:off x="1259632" y="0"/>
            <a:ext cx="7884368" cy="884466"/>
          </a:xfrm>
        </p:spPr>
        <p:txBody>
          <a:bodyPr/>
          <a:lstStyle/>
          <a:p>
            <a:r>
              <a:rPr lang="en-US" dirty="0"/>
              <a:t>Headlines</a:t>
            </a:r>
          </a:p>
        </p:txBody>
      </p:sp>
      <p:sp>
        <p:nvSpPr>
          <p:cNvPr id="3" name="Content Placeholder 2">
            <a:extLst>
              <a:ext uri="{FF2B5EF4-FFF2-40B4-BE49-F238E27FC236}">
                <a16:creationId xmlns:a16="http://schemas.microsoft.com/office/drawing/2014/main" id="{15AD97A0-6FB2-4A15-BC50-FC7B498D2CFF}"/>
              </a:ext>
            </a:extLst>
          </p:cNvPr>
          <p:cNvSpPr>
            <a:spLocks noGrp="1"/>
          </p:cNvSpPr>
          <p:nvPr>
            <p:ph idx="1"/>
          </p:nvPr>
        </p:nvSpPr>
        <p:spPr>
          <a:xfrm>
            <a:off x="1115616" y="1200151"/>
            <a:ext cx="7571184" cy="3394472"/>
          </a:xfrm>
        </p:spPr>
        <p:txBody>
          <a:bodyPr/>
          <a:lstStyle/>
          <a:p>
            <a:r>
              <a:rPr lang="en-US" sz="2800" dirty="0"/>
              <a:t>Definition</a:t>
            </a:r>
          </a:p>
          <a:p>
            <a:r>
              <a:rPr lang="en-US" sz="2800" dirty="0"/>
              <a:t>why type script</a:t>
            </a:r>
          </a:p>
          <a:p>
            <a:r>
              <a:rPr lang="en-US" sz="2800" dirty="0"/>
              <a:t>typescript features</a:t>
            </a:r>
          </a:p>
          <a:p>
            <a:r>
              <a:rPr lang="en-US" sz="2800" dirty="0"/>
              <a:t>typescript in react</a:t>
            </a:r>
          </a:p>
          <a:p>
            <a:r>
              <a:rPr lang="en-US" sz="2800" dirty="0"/>
              <a:t>samples</a:t>
            </a:r>
          </a:p>
        </p:txBody>
      </p:sp>
    </p:spTree>
    <p:extLst>
      <p:ext uri="{BB962C8B-B14F-4D97-AF65-F5344CB8AC3E}">
        <p14:creationId xmlns:p14="http://schemas.microsoft.com/office/powerpoint/2010/main" val="27742437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B3B7F-609F-4826-A7DE-6F26D6B9E9A3}"/>
              </a:ext>
            </a:extLst>
          </p:cNvPr>
          <p:cNvSpPr>
            <a:spLocks noGrp="1"/>
          </p:cNvSpPr>
          <p:nvPr>
            <p:ph type="title"/>
          </p:nvPr>
        </p:nvSpPr>
        <p:spPr>
          <a:xfrm>
            <a:off x="1115616" y="0"/>
            <a:ext cx="8028384" cy="884466"/>
          </a:xfrm>
        </p:spPr>
        <p:txBody>
          <a:bodyPr/>
          <a:lstStyle/>
          <a:p>
            <a:r>
              <a:rPr lang="en-US" dirty="0" err="1"/>
              <a:t>Definiation</a:t>
            </a:r>
            <a:endParaRPr lang="en-US" dirty="0"/>
          </a:p>
        </p:txBody>
      </p:sp>
      <p:sp>
        <p:nvSpPr>
          <p:cNvPr id="3" name="Content Placeholder 2">
            <a:extLst>
              <a:ext uri="{FF2B5EF4-FFF2-40B4-BE49-F238E27FC236}">
                <a16:creationId xmlns:a16="http://schemas.microsoft.com/office/drawing/2014/main" id="{47198781-D39A-45D5-8622-197A0DB19768}"/>
              </a:ext>
            </a:extLst>
          </p:cNvPr>
          <p:cNvSpPr>
            <a:spLocks noGrp="1"/>
          </p:cNvSpPr>
          <p:nvPr>
            <p:ph idx="1"/>
          </p:nvPr>
        </p:nvSpPr>
        <p:spPr>
          <a:xfrm>
            <a:off x="899592" y="1200151"/>
            <a:ext cx="7787208" cy="3394472"/>
          </a:xfrm>
        </p:spPr>
        <p:txBody>
          <a:bodyPr/>
          <a:lstStyle/>
          <a:p>
            <a:r>
              <a:rPr lang="en-US" sz="2800" b="0" i="0" dirty="0">
                <a:solidFill>
                  <a:srgbClr val="222635"/>
                </a:solidFill>
                <a:effectLst/>
                <a:latin typeface="Cambria" panose="02040503050406030204" pitchFamily="18" charset="0"/>
              </a:rPr>
              <a:t>TypeScript is an object-oriented programming language developed and maintained by the Microsoft Corporation. It is a superset of JavaScript and contains all of its elements.</a:t>
            </a:r>
            <a:endParaRPr lang="en-US" sz="2800" dirty="0"/>
          </a:p>
        </p:txBody>
      </p:sp>
    </p:spTree>
    <p:extLst>
      <p:ext uri="{BB962C8B-B14F-4D97-AF65-F5344CB8AC3E}">
        <p14:creationId xmlns:p14="http://schemas.microsoft.com/office/powerpoint/2010/main" val="358376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31640" y="0"/>
            <a:ext cx="7812360" cy="884466"/>
          </a:xfrm>
        </p:spPr>
        <p:txBody>
          <a:bodyPr>
            <a:normAutofit/>
          </a:bodyPr>
          <a:lstStyle/>
          <a:p>
            <a:pPr algn="l"/>
            <a:r>
              <a:rPr lang="en-US" altLang="ko-KR" sz="4000" dirty="0">
                <a:solidFill>
                  <a:schemeClr val="tx1">
                    <a:lumMod val="75000"/>
                    <a:lumOff val="25000"/>
                  </a:schemeClr>
                </a:solidFill>
              </a:rPr>
              <a:t>Why TS</a:t>
            </a:r>
            <a:endParaRPr lang="ko-KR" altLang="en-US" sz="4000" dirty="0">
              <a:solidFill>
                <a:schemeClr val="tx1">
                  <a:lumMod val="75000"/>
                  <a:lumOff val="25000"/>
                </a:schemeClr>
              </a:solidFill>
            </a:endParaRPr>
          </a:p>
        </p:txBody>
      </p:sp>
      <p:sp>
        <p:nvSpPr>
          <p:cNvPr id="4" name="Content Placeholder 3"/>
          <p:cNvSpPr>
            <a:spLocks noGrp="1"/>
          </p:cNvSpPr>
          <p:nvPr>
            <p:ph idx="1"/>
          </p:nvPr>
        </p:nvSpPr>
        <p:spPr>
          <a:xfrm>
            <a:off x="1655676" y="1131590"/>
            <a:ext cx="7031124" cy="3888432"/>
          </a:xfrm>
        </p:spPr>
        <p:txBody>
          <a:bodyPr>
            <a:normAutofit/>
          </a:bodyPr>
          <a:lstStyle/>
          <a:p>
            <a:r>
              <a:rPr lang="en-US" altLang="ko-KR" sz="2800" dirty="0">
                <a:solidFill>
                  <a:schemeClr val="tx1">
                    <a:lumMod val="75000"/>
                    <a:lumOff val="25000"/>
                  </a:schemeClr>
                </a:solidFill>
                <a:latin typeface="Arial" pitchFamily="34" charset="0"/>
                <a:cs typeface="Arial" pitchFamily="34" charset="0"/>
              </a:rPr>
              <a:t>Static Type Checking</a:t>
            </a:r>
          </a:p>
          <a:p>
            <a:pPr>
              <a:buFont typeface="Wingdings" pitchFamily="2" charset="2"/>
              <a:buChar char="ü"/>
            </a:pPr>
            <a:r>
              <a:rPr lang="en-US" sz="1800" dirty="0"/>
              <a:t>TypeScript checks a program for errors before execution, and does so based on the </a:t>
            </a:r>
            <a:r>
              <a:rPr lang="en-US" sz="1800" i="1" dirty="0"/>
              <a:t>kinds of values</a:t>
            </a:r>
            <a:r>
              <a:rPr lang="en-US" sz="1800" dirty="0"/>
              <a:t>, it’s a </a:t>
            </a:r>
            <a:r>
              <a:rPr lang="en-US" sz="1800" i="1" dirty="0"/>
              <a:t>static type checker</a:t>
            </a:r>
          </a:p>
          <a:p>
            <a:pPr marL="0" indent="0">
              <a:buNone/>
            </a:pPr>
            <a:br>
              <a:rPr lang="en-US" altLang="ko-KR" sz="1800" dirty="0">
                <a:solidFill>
                  <a:schemeClr val="tx1">
                    <a:lumMod val="50000"/>
                    <a:lumOff val="50000"/>
                  </a:schemeClr>
                </a:solidFill>
                <a:latin typeface="Arial" pitchFamily="34" charset="0"/>
                <a:cs typeface="Arial" pitchFamily="34" charset="0"/>
              </a:rPr>
            </a:br>
            <a:r>
              <a:rPr lang="en-US" altLang="ko-KR" sz="1600" dirty="0">
                <a:solidFill>
                  <a:schemeClr val="tx2">
                    <a:lumMod val="60000"/>
                    <a:lumOff val="40000"/>
                  </a:schemeClr>
                </a:solidFill>
                <a:latin typeface="Arial" pitchFamily="34" charset="0"/>
                <a:cs typeface="Arial" pitchFamily="34" charset="0"/>
              </a:rPr>
              <a:t>for some values, such as the primitives string and number, we can identify their type at runtime using the </a:t>
            </a:r>
            <a:r>
              <a:rPr lang="en-US" altLang="ko-KR" sz="1600" dirty="0" err="1">
                <a:solidFill>
                  <a:srgbClr val="FF0000"/>
                </a:solidFill>
                <a:latin typeface="Arial" pitchFamily="34" charset="0"/>
                <a:cs typeface="Arial" pitchFamily="34" charset="0"/>
              </a:rPr>
              <a:t>typeof</a:t>
            </a:r>
            <a:r>
              <a:rPr lang="en-US" altLang="ko-KR" sz="1600" dirty="0">
                <a:solidFill>
                  <a:schemeClr val="tx2">
                    <a:lumMod val="60000"/>
                    <a:lumOff val="40000"/>
                  </a:schemeClr>
                </a:solidFill>
                <a:latin typeface="Arial" pitchFamily="34" charset="0"/>
                <a:cs typeface="Arial" pitchFamily="34" charset="0"/>
              </a:rPr>
              <a:t> operator. But for other things like functions, there’s no corresponding runtime mechanism to identify their types</a:t>
            </a:r>
            <a:endParaRPr lang="en-US" altLang="ko-KR" sz="1800" dirty="0">
              <a:solidFill>
                <a:schemeClr val="tx2">
                  <a:lumMod val="60000"/>
                  <a:lumOff val="40000"/>
                </a:schemeClr>
              </a:solidFill>
              <a:latin typeface="Arial" pitchFamily="34" charset="0"/>
              <a:cs typeface="Arial" pitchFamily="34" charset="0"/>
            </a:endParaRPr>
          </a:p>
        </p:txBody>
      </p:sp>
    </p:spTree>
    <p:extLst>
      <p:ext uri="{BB962C8B-B14F-4D97-AF65-F5344CB8AC3E}">
        <p14:creationId xmlns:p14="http://schemas.microsoft.com/office/powerpoint/2010/main" val="2090594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0"/>
            <a:ext cx="7956376" cy="884466"/>
          </a:xfrm>
        </p:spPr>
        <p:txBody>
          <a:bodyPr/>
          <a:lstStyle/>
          <a:p>
            <a:r>
              <a:rPr lang="en-US" altLang="ko-KR" dirty="0">
                <a:solidFill>
                  <a:schemeClr val="tx1">
                    <a:lumMod val="75000"/>
                    <a:lumOff val="25000"/>
                  </a:schemeClr>
                </a:solidFill>
              </a:rPr>
              <a:t>Why TS</a:t>
            </a:r>
            <a:endParaRPr lang="en-US" dirty="0"/>
          </a:p>
        </p:txBody>
      </p:sp>
      <p:sp>
        <p:nvSpPr>
          <p:cNvPr id="3" name="Content Placeholder 2"/>
          <p:cNvSpPr>
            <a:spLocks noGrp="1"/>
          </p:cNvSpPr>
          <p:nvPr>
            <p:ph idx="1"/>
          </p:nvPr>
        </p:nvSpPr>
        <p:spPr>
          <a:xfrm>
            <a:off x="1187624" y="1200151"/>
            <a:ext cx="7499176" cy="3394472"/>
          </a:xfrm>
        </p:spPr>
        <p:txBody>
          <a:bodyPr/>
          <a:lstStyle/>
          <a:p>
            <a:r>
              <a:rPr lang="en-US" sz="2800" dirty="0"/>
              <a:t>Example:</a:t>
            </a:r>
          </a:p>
          <a:p>
            <a:r>
              <a:rPr lang="en-US" sz="1800" dirty="0" err="1">
                <a:solidFill>
                  <a:schemeClr val="accent3">
                    <a:lumMod val="75000"/>
                  </a:schemeClr>
                </a:solidFill>
              </a:rPr>
              <a:t>const</a:t>
            </a:r>
            <a:r>
              <a:rPr lang="en-US" sz="1800" dirty="0">
                <a:solidFill>
                  <a:schemeClr val="accent3">
                    <a:lumMod val="75000"/>
                  </a:schemeClr>
                </a:solidFill>
              </a:rPr>
              <a:t> </a:t>
            </a:r>
            <a:r>
              <a:rPr lang="en-US" sz="1800" dirty="0" err="1">
                <a:solidFill>
                  <a:schemeClr val="accent3">
                    <a:lumMod val="75000"/>
                  </a:schemeClr>
                </a:solidFill>
              </a:rPr>
              <a:t>obj</a:t>
            </a:r>
            <a:r>
              <a:rPr lang="en-US" sz="1800" dirty="0">
                <a:solidFill>
                  <a:schemeClr val="accent3">
                    <a:lumMod val="75000"/>
                  </a:schemeClr>
                </a:solidFill>
              </a:rPr>
              <a:t> = { width: 10, height: 15 };</a:t>
            </a:r>
          </a:p>
          <a:p>
            <a:r>
              <a:rPr lang="en-US" sz="1800" dirty="0">
                <a:solidFill>
                  <a:schemeClr val="accent3">
                    <a:lumMod val="75000"/>
                  </a:schemeClr>
                </a:solidFill>
              </a:rPr>
              <a:t>// Why is this </a:t>
            </a:r>
            <a:r>
              <a:rPr lang="en-US" sz="1800" dirty="0" err="1">
                <a:solidFill>
                  <a:schemeClr val="accent3">
                    <a:lumMod val="75000"/>
                  </a:schemeClr>
                </a:solidFill>
              </a:rPr>
              <a:t>NaN</a:t>
            </a:r>
            <a:r>
              <a:rPr lang="en-US" sz="1800" dirty="0">
                <a:solidFill>
                  <a:schemeClr val="accent3">
                    <a:lumMod val="75000"/>
                  </a:schemeClr>
                </a:solidFill>
              </a:rPr>
              <a:t>? Spelling is hard!</a:t>
            </a:r>
          </a:p>
          <a:p>
            <a:r>
              <a:rPr lang="en-US" sz="1800" dirty="0" err="1">
                <a:solidFill>
                  <a:schemeClr val="accent3">
                    <a:lumMod val="75000"/>
                  </a:schemeClr>
                </a:solidFill>
              </a:rPr>
              <a:t>const</a:t>
            </a:r>
            <a:r>
              <a:rPr lang="en-US" sz="1800" dirty="0">
                <a:solidFill>
                  <a:schemeClr val="accent3">
                    <a:lumMod val="75000"/>
                  </a:schemeClr>
                </a:solidFill>
              </a:rPr>
              <a:t> area = </a:t>
            </a:r>
            <a:r>
              <a:rPr lang="en-US" sz="1800" dirty="0" err="1">
                <a:solidFill>
                  <a:schemeClr val="accent3">
                    <a:lumMod val="75000"/>
                  </a:schemeClr>
                </a:solidFill>
              </a:rPr>
              <a:t>obj.width</a:t>
            </a:r>
            <a:r>
              <a:rPr lang="en-US" sz="1800" dirty="0">
                <a:solidFill>
                  <a:schemeClr val="accent3">
                    <a:lumMod val="75000"/>
                  </a:schemeClr>
                </a:solidFill>
              </a:rPr>
              <a:t> * </a:t>
            </a:r>
            <a:r>
              <a:rPr lang="en-US" sz="1800" dirty="0" err="1">
                <a:solidFill>
                  <a:schemeClr val="accent3">
                    <a:lumMod val="75000"/>
                  </a:schemeClr>
                </a:solidFill>
              </a:rPr>
              <a:t>obj.</a:t>
            </a:r>
            <a:r>
              <a:rPr lang="en-US" sz="1800" dirty="0" err="1">
                <a:solidFill>
                  <a:schemeClr val="accent6">
                    <a:lumMod val="75000"/>
                  </a:schemeClr>
                </a:solidFill>
              </a:rPr>
              <a:t>heigth</a:t>
            </a:r>
            <a:r>
              <a:rPr lang="en-US" sz="1800" dirty="0">
                <a:solidFill>
                  <a:schemeClr val="accent3">
                    <a:lumMod val="75000"/>
                  </a:schemeClr>
                </a:solidFill>
              </a:rPr>
              <a:t>;</a:t>
            </a:r>
          </a:p>
          <a:p>
            <a:endParaRPr lang="en-US" sz="2000" dirty="0">
              <a:solidFill>
                <a:schemeClr val="accent3">
                  <a:lumMod val="75000"/>
                </a:schemeClr>
              </a:solidFill>
            </a:endParaRPr>
          </a:p>
          <a:p>
            <a:r>
              <a:rPr lang="en-US" sz="2000" dirty="0"/>
              <a:t>Without TS: </a:t>
            </a:r>
            <a:r>
              <a:rPr lang="en-US" sz="2000" dirty="0">
                <a:solidFill>
                  <a:schemeClr val="accent6">
                    <a:lumMod val="75000"/>
                  </a:schemeClr>
                </a:solidFill>
              </a:rPr>
              <a:t>run time error</a:t>
            </a:r>
            <a:r>
              <a:rPr lang="en-US" sz="2000" dirty="0"/>
              <a:t>?!</a:t>
            </a:r>
          </a:p>
          <a:p>
            <a:r>
              <a:rPr lang="en-US" sz="2000" dirty="0"/>
              <a:t>TS error: (</a:t>
            </a:r>
            <a:r>
              <a:rPr lang="en-US" sz="2000" dirty="0">
                <a:solidFill>
                  <a:schemeClr val="accent6">
                    <a:lumMod val="75000"/>
                  </a:schemeClr>
                </a:solidFill>
              </a:rPr>
              <a:t>compile error</a:t>
            </a:r>
            <a:r>
              <a:rPr lang="en-US" sz="2000" dirty="0"/>
              <a:t>): Property '</a:t>
            </a:r>
            <a:r>
              <a:rPr lang="en-US" sz="2000" dirty="0" err="1"/>
              <a:t>heigth</a:t>
            </a:r>
            <a:r>
              <a:rPr lang="en-US" sz="2000" dirty="0"/>
              <a:t>' does not exist on type '{ width: number; height: number; }'. Did you mean 'height'?</a:t>
            </a:r>
            <a:endParaRPr lang="en-US" sz="2000" dirty="0">
              <a:solidFill>
                <a:schemeClr val="accent3">
                  <a:lumMod val="75000"/>
                </a:schemeClr>
              </a:solidFill>
            </a:endParaRPr>
          </a:p>
          <a:p>
            <a:endParaRPr lang="en-US" dirty="0"/>
          </a:p>
        </p:txBody>
      </p:sp>
    </p:spTree>
    <p:extLst>
      <p:ext uri="{BB962C8B-B14F-4D97-AF65-F5344CB8AC3E}">
        <p14:creationId xmlns:p14="http://schemas.microsoft.com/office/powerpoint/2010/main" val="1847312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09331-6671-431A-9886-5BADC828F66F}"/>
              </a:ext>
            </a:extLst>
          </p:cNvPr>
          <p:cNvSpPr>
            <a:spLocks noGrp="1"/>
          </p:cNvSpPr>
          <p:nvPr>
            <p:ph type="title"/>
          </p:nvPr>
        </p:nvSpPr>
        <p:spPr>
          <a:xfrm>
            <a:off x="1259632" y="0"/>
            <a:ext cx="7884368" cy="884466"/>
          </a:xfrm>
        </p:spPr>
        <p:txBody>
          <a:bodyPr/>
          <a:lstStyle/>
          <a:p>
            <a:r>
              <a:rPr lang="en-US" altLang="ko-KR" dirty="0">
                <a:solidFill>
                  <a:schemeClr val="tx1">
                    <a:lumMod val="75000"/>
                    <a:lumOff val="25000"/>
                  </a:schemeClr>
                </a:solidFill>
              </a:rPr>
              <a:t>Why TS</a:t>
            </a:r>
            <a:endParaRPr lang="en-US" dirty="0"/>
          </a:p>
        </p:txBody>
      </p:sp>
      <p:sp>
        <p:nvSpPr>
          <p:cNvPr id="3" name="Content Placeholder 2">
            <a:extLst>
              <a:ext uri="{FF2B5EF4-FFF2-40B4-BE49-F238E27FC236}">
                <a16:creationId xmlns:a16="http://schemas.microsoft.com/office/drawing/2014/main" id="{C112BD99-EE2A-4D58-8B4F-1BC2FF4407EE}"/>
              </a:ext>
            </a:extLst>
          </p:cNvPr>
          <p:cNvSpPr>
            <a:spLocks noGrp="1"/>
          </p:cNvSpPr>
          <p:nvPr>
            <p:ph idx="1"/>
          </p:nvPr>
        </p:nvSpPr>
        <p:spPr>
          <a:xfrm>
            <a:off x="1259632" y="1200151"/>
            <a:ext cx="7427168" cy="3394472"/>
          </a:xfrm>
        </p:spPr>
        <p:txBody>
          <a:bodyPr/>
          <a:lstStyle/>
          <a:p>
            <a:r>
              <a:rPr lang="en-US" sz="2400" b="0" i="0" dirty="0">
                <a:solidFill>
                  <a:srgbClr val="292929"/>
                </a:solidFill>
                <a:effectLst/>
                <a:latin typeface="sohne"/>
              </a:rPr>
              <a:t>Easy to read and understand components</a:t>
            </a:r>
          </a:p>
          <a:p>
            <a:r>
              <a:rPr lang="en-US" sz="2400" b="0" i="0" dirty="0">
                <a:solidFill>
                  <a:srgbClr val="222635"/>
                </a:solidFill>
                <a:effectLst/>
                <a:latin typeface="Cambria" panose="02040503050406030204" pitchFamily="18" charset="0"/>
              </a:rPr>
              <a:t>type system, including generics</a:t>
            </a:r>
          </a:p>
          <a:p>
            <a:r>
              <a:rPr lang="en-US" sz="2400" b="0" i="0" dirty="0">
                <a:solidFill>
                  <a:srgbClr val="222635"/>
                </a:solidFill>
                <a:effectLst/>
                <a:latin typeface="Cambria" panose="02040503050406030204" pitchFamily="18" charset="0"/>
              </a:rPr>
              <a:t>Starts and ends with JavaScript</a:t>
            </a:r>
          </a:p>
          <a:p>
            <a:r>
              <a:rPr lang="en-US" sz="2400" b="0" i="0" dirty="0">
                <a:solidFill>
                  <a:srgbClr val="222635"/>
                </a:solidFill>
                <a:effectLst/>
                <a:latin typeface="Cambria" panose="02040503050406030204" pitchFamily="18" charset="0"/>
              </a:rPr>
              <a:t>TypeScript is a superset of ES3, ES5, and ES6</a:t>
            </a:r>
            <a:endParaRPr lang="en-US" sz="4000" dirty="0"/>
          </a:p>
        </p:txBody>
      </p:sp>
    </p:spTree>
    <p:extLst>
      <p:ext uri="{BB962C8B-B14F-4D97-AF65-F5344CB8AC3E}">
        <p14:creationId xmlns:p14="http://schemas.microsoft.com/office/powerpoint/2010/main" val="26717338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608" y="0"/>
            <a:ext cx="8100392" cy="884466"/>
          </a:xfrm>
        </p:spPr>
        <p:txBody>
          <a:bodyPr/>
          <a:lstStyle/>
          <a:p>
            <a:r>
              <a:rPr lang="en-US" dirty="0"/>
              <a:t>Features</a:t>
            </a:r>
          </a:p>
        </p:txBody>
      </p:sp>
      <p:sp>
        <p:nvSpPr>
          <p:cNvPr id="3" name="Content Placeholder 2"/>
          <p:cNvSpPr>
            <a:spLocks noGrp="1"/>
          </p:cNvSpPr>
          <p:nvPr>
            <p:ph idx="1"/>
          </p:nvPr>
        </p:nvSpPr>
        <p:spPr>
          <a:xfrm>
            <a:off x="899592" y="1200151"/>
            <a:ext cx="7787208" cy="3394472"/>
          </a:xfrm>
        </p:spPr>
        <p:txBody>
          <a:bodyPr/>
          <a:lstStyle/>
          <a:p>
            <a:r>
              <a:rPr lang="en-US" dirty="0"/>
              <a:t>Types</a:t>
            </a:r>
          </a:p>
          <a:p>
            <a:r>
              <a:rPr lang="en-US" sz="1800" dirty="0"/>
              <a:t>The primitives: </a:t>
            </a:r>
            <a:r>
              <a:rPr lang="en-US" sz="1800" dirty="0" err="1"/>
              <a:t>string,number</a:t>
            </a:r>
            <a:r>
              <a:rPr lang="en-US" sz="1800" dirty="0"/>
              <a:t>, and </a:t>
            </a:r>
            <a:r>
              <a:rPr lang="en-US" sz="1800" dirty="0" err="1"/>
              <a:t>boolean</a:t>
            </a:r>
            <a:endParaRPr lang="en-US" sz="1800" dirty="0"/>
          </a:p>
          <a:p>
            <a:r>
              <a:rPr lang="en-US" sz="1600" dirty="0"/>
              <a:t>JavaScript has three very commonly used primitives: string, number, and </a:t>
            </a:r>
            <a:r>
              <a:rPr lang="en-US" sz="1600" dirty="0" err="1"/>
              <a:t>boolean</a:t>
            </a:r>
            <a:r>
              <a:rPr lang="en-US" sz="1600" dirty="0"/>
              <a:t>.</a:t>
            </a:r>
          </a:p>
          <a:p>
            <a:r>
              <a:rPr lang="en-US" sz="1600" dirty="0"/>
              <a:t>Each has a corresponding type in TypeScript.</a:t>
            </a:r>
          </a:p>
          <a:p>
            <a:r>
              <a:rPr lang="en-US" sz="1600" dirty="0"/>
              <a:t>As you might expect, these are the same names you’d see if you used the Java Script </a:t>
            </a:r>
            <a:r>
              <a:rPr lang="en-US" sz="1600" dirty="0" err="1"/>
              <a:t>typeof</a:t>
            </a:r>
            <a:r>
              <a:rPr lang="en-US" sz="1600" dirty="0"/>
              <a:t> operator on a value of those types: </a:t>
            </a:r>
          </a:p>
          <a:p>
            <a:r>
              <a:rPr lang="en-US" sz="1600" dirty="0"/>
              <a:t>string represents string values like "Hello, world“</a:t>
            </a:r>
          </a:p>
          <a:p>
            <a:r>
              <a:rPr lang="en-US" sz="1600" dirty="0"/>
              <a:t>number is for numbers like 42. JavaScript does not have a special runtime value for integers, so there’s no equivalent to int or float - everything is simply number</a:t>
            </a:r>
          </a:p>
          <a:p>
            <a:r>
              <a:rPr lang="en-US" sz="1600" dirty="0" err="1"/>
              <a:t>boolean</a:t>
            </a:r>
            <a:r>
              <a:rPr lang="en-US" sz="1600" dirty="0"/>
              <a:t> is for the two values true and false</a:t>
            </a:r>
          </a:p>
        </p:txBody>
      </p:sp>
    </p:spTree>
    <p:extLst>
      <p:ext uri="{BB962C8B-B14F-4D97-AF65-F5344CB8AC3E}">
        <p14:creationId xmlns:p14="http://schemas.microsoft.com/office/powerpoint/2010/main" val="3565040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0D5AE-CB69-49F3-99F4-AF644450AE7C}"/>
              </a:ext>
            </a:extLst>
          </p:cNvPr>
          <p:cNvSpPr>
            <a:spLocks noGrp="1"/>
          </p:cNvSpPr>
          <p:nvPr>
            <p:ph type="title"/>
          </p:nvPr>
        </p:nvSpPr>
        <p:spPr>
          <a:xfrm>
            <a:off x="1115616" y="0"/>
            <a:ext cx="8028384" cy="884466"/>
          </a:xfrm>
        </p:spPr>
        <p:txBody>
          <a:bodyPr/>
          <a:lstStyle/>
          <a:p>
            <a:r>
              <a:rPr lang="en-US" dirty="0"/>
              <a:t>Features</a:t>
            </a:r>
            <a:endParaRPr lang="en-US" b="0" dirty="0"/>
          </a:p>
        </p:txBody>
      </p:sp>
      <p:sp>
        <p:nvSpPr>
          <p:cNvPr id="3" name="Content Placeholder 2">
            <a:extLst>
              <a:ext uri="{FF2B5EF4-FFF2-40B4-BE49-F238E27FC236}">
                <a16:creationId xmlns:a16="http://schemas.microsoft.com/office/drawing/2014/main" id="{F2AA6CB7-F960-4E37-99C8-818BEB120FAB}"/>
              </a:ext>
            </a:extLst>
          </p:cNvPr>
          <p:cNvSpPr>
            <a:spLocks noGrp="1"/>
          </p:cNvSpPr>
          <p:nvPr>
            <p:ph idx="1"/>
          </p:nvPr>
        </p:nvSpPr>
        <p:spPr>
          <a:xfrm>
            <a:off x="755576" y="1200151"/>
            <a:ext cx="7931224" cy="3394472"/>
          </a:xfrm>
        </p:spPr>
        <p:txBody>
          <a:bodyPr/>
          <a:lstStyle/>
          <a:p>
            <a:r>
              <a:rPr lang="en-US" sz="2400" dirty="0"/>
              <a:t>Array:</a:t>
            </a:r>
            <a:br>
              <a:rPr lang="en-US" dirty="0"/>
            </a:br>
            <a:r>
              <a:rPr lang="en-US" sz="1800" dirty="0"/>
              <a:t>To specify the type of an array like [1, 2, 3], you can use the syntax number[]; this syntax works for any type (e.g. string[] is an array of strings, and so on). You may also see this written as Array&lt;number&gt;, which means the same thing</a:t>
            </a:r>
            <a:br>
              <a:rPr lang="en-US" sz="1800" dirty="0"/>
            </a:br>
            <a:r>
              <a:rPr lang="en-US" sz="2400" dirty="0"/>
              <a:t>Any:</a:t>
            </a:r>
            <a:br>
              <a:rPr lang="en-US" sz="1800" dirty="0"/>
            </a:br>
            <a:r>
              <a:rPr lang="en-US" sz="1600" dirty="0"/>
              <a:t>TypeScript also has a special type, any, that you can use whenever you don’t want a particular value to cause </a:t>
            </a:r>
            <a:r>
              <a:rPr lang="en-US" sz="1600" dirty="0" err="1"/>
              <a:t>typechecking</a:t>
            </a:r>
            <a:r>
              <a:rPr lang="en-US" sz="1600" dirty="0"/>
              <a:t> errors.</a:t>
            </a:r>
          </a:p>
          <a:p>
            <a:r>
              <a:rPr lang="en-US" sz="1600" dirty="0"/>
              <a:t>When a value is of type any, you can access any properties of it (which will in turn be of type any), call it like a function, assign it to (or from) a value of any type, or pretty much anything else that’s syntactically legal:</a:t>
            </a:r>
            <a:endParaRPr lang="en-US" sz="3600" dirty="0"/>
          </a:p>
        </p:txBody>
      </p:sp>
    </p:spTree>
    <p:extLst>
      <p:ext uri="{BB962C8B-B14F-4D97-AF65-F5344CB8AC3E}">
        <p14:creationId xmlns:p14="http://schemas.microsoft.com/office/powerpoint/2010/main" val="2995887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A2698-FCB5-43EE-8294-4B08F7A40F16}"/>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B4517327-4017-429D-94D5-54128B25AD02}"/>
              </a:ext>
            </a:extLst>
          </p:cNvPr>
          <p:cNvSpPr>
            <a:spLocks noGrp="1"/>
          </p:cNvSpPr>
          <p:nvPr>
            <p:ph idx="1"/>
          </p:nvPr>
        </p:nvSpPr>
        <p:spPr/>
        <p:txBody>
          <a:bodyPr/>
          <a:lstStyle/>
          <a:p>
            <a:r>
              <a:rPr lang="en-US" dirty="0"/>
              <a:t>Type Annotations on Variables:</a:t>
            </a:r>
          </a:p>
          <a:p>
            <a:r>
              <a:rPr lang="en-US" sz="1800" dirty="0"/>
              <a:t>When you declare a variable using const, var, or let, you can optionally add a type annotation to explicitly specify the type of the variable:</a:t>
            </a:r>
          </a:p>
          <a:p>
            <a:br>
              <a:rPr lang="en-US" dirty="0"/>
            </a:br>
            <a:endParaRPr lang="en-US" dirty="0"/>
          </a:p>
        </p:txBody>
      </p:sp>
      <p:pic>
        <p:nvPicPr>
          <p:cNvPr id="7" name="Picture 6">
            <a:extLst>
              <a:ext uri="{FF2B5EF4-FFF2-40B4-BE49-F238E27FC236}">
                <a16:creationId xmlns:a16="http://schemas.microsoft.com/office/drawing/2014/main" id="{5F2A25F1-0063-4EB0-910F-8C9BC4165C55}"/>
              </a:ext>
            </a:extLst>
          </p:cNvPr>
          <p:cNvPicPr>
            <a:picLocks noChangeAspect="1"/>
          </p:cNvPicPr>
          <p:nvPr/>
        </p:nvPicPr>
        <p:blipFill>
          <a:blip r:embed="rId2"/>
          <a:stretch>
            <a:fillRect/>
          </a:stretch>
        </p:blipFill>
        <p:spPr>
          <a:xfrm>
            <a:off x="539552" y="2427734"/>
            <a:ext cx="8064896" cy="2482574"/>
          </a:xfrm>
          <a:prstGeom prst="rect">
            <a:avLst/>
          </a:prstGeom>
        </p:spPr>
      </p:pic>
    </p:spTree>
    <p:extLst>
      <p:ext uri="{BB962C8B-B14F-4D97-AF65-F5344CB8AC3E}">
        <p14:creationId xmlns:p14="http://schemas.microsoft.com/office/powerpoint/2010/main" val="1476713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24F8-B21A-4B56-B710-D937D5B31F62}"/>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1564D23B-DF75-4893-9458-1D976D6E8A19}"/>
              </a:ext>
            </a:extLst>
          </p:cNvPr>
          <p:cNvSpPr>
            <a:spLocks noGrp="1"/>
          </p:cNvSpPr>
          <p:nvPr>
            <p:ph idx="1"/>
          </p:nvPr>
        </p:nvSpPr>
        <p:spPr/>
        <p:txBody>
          <a:bodyPr/>
          <a:lstStyle/>
          <a:p>
            <a:r>
              <a:rPr lang="en-US" dirty="0"/>
              <a:t>Function Annotation:</a:t>
            </a:r>
            <a:br>
              <a:rPr lang="en-US" dirty="0"/>
            </a:br>
            <a:r>
              <a:rPr lang="en-US" sz="1800" dirty="0"/>
              <a:t>When you declare a function, you can add type annotations after each parameter to declare what types of parameters the function accepts. Parameter type annotations go after the parameter name:</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B3C6D148-16BB-41DC-89F4-FE8D29235AA2}"/>
              </a:ext>
            </a:extLst>
          </p:cNvPr>
          <p:cNvPicPr>
            <a:picLocks noChangeAspect="1"/>
          </p:cNvPicPr>
          <p:nvPr/>
        </p:nvPicPr>
        <p:blipFill>
          <a:blip r:embed="rId2"/>
          <a:stretch>
            <a:fillRect/>
          </a:stretch>
        </p:blipFill>
        <p:spPr>
          <a:xfrm>
            <a:off x="683568" y="2715766"/>
            <a:ext cx="7920880" cy="2194542"/>
          </a:xfrm>
          <a:prstGeom prst="rect">
            <a:avLst/>
          </a:prstGeom>
        </p:spPr>
      </p:pic>
    </p:spTree>
    <p:extLst>
      <p:ext uri="{BB962C8B-B14F-4D97-AF65-F5344CB8AC3E}">
        <p14:creationId xmlns:p14="http://schemas.microsoft.com/office/powerpoint/2010/main" val="2843569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80D96-028B-4DA9-9585-6F3DBB57C465}"/>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6D1A5FBA-96F0-4A76-8508-5BFD965EE1E0}"/>
              </a:ext>
            </a:extLst>
          </p:cNvPr>
          <p:cNvSpPr>
            <a:spLocks noGrp="1"/>
          </p:cNvSpPr>
          <p:nvPr>
            <p:ph idx="1"/>
          </p:nvPr>
        </p:nvSpPr>
        <p:spPr/>
        <p:txBody>
          <a:bodyPr/>
          <a:lstStyle/>
          <a:p>
            <a:r>
              <a:rPr lang="en-US" dirty="0"/>
              <a:t>Return Type Annotation</a:t>
            </a:r>
          </a:p>
          <a:p>
            <a:r>
              <a:rPr lang="en-US" sz="1800" dirty="0"/>
              <a:t>Much like variable type annotations, you usually don’t need a return type annotation because TypeScript will infer the function’s return type based on its return statements. The type annotation in the above example doesn’t change anything. Some codebases will explicitly specify a return type for documentation purposes, to prevent accidental changes, or just for personal preference.</a:t>
            </a:r>
          </a:p>
          <a:p>
            <a:r>
              <a:rPr lang="en-US" dirty="0"/>
              <a:t> </a:t>
            </a:r>
          </a:p>
        </p:txBody>
      </p:sp>
      <p:pic>
        <p:nvPicPr>
          <p:cNvPr id="5" name="Picture 4">
            <a:extLst>
              <a:ext uri="{FF2B5EF4-FFF2-40B4-BE49-F238E27FC236}">
                <a16:creationId xmlns:a16="http://schemas.microsoft.com/office/drawing/2014/main" id="{16CBFF52-D52C-4DAF-B156-FFA410FA6FCA}"/>
              </a:ext>
            </a:extLst>
          </p:cNvPr>
          <p:cNvPicPr>
            <a:picLocks noChangeAspect="1"/>
          </p:cNvPicPr>
          <p:nvPr/>
        </p:nvPicPr>
        <p:blipFill>
          <a:blip r:embed="rId2"/>
          <a:stretch>
            <a:fillRect/>
          </a:stretch>
        </p:blipFill>
        <p:spPr>
          <a:xfrm>
            <a:off x="899592" y="3723878"/>
            <a:ext cx="7640712" cy="1019175"/>
          </a:xfrm>
          <a:prstGeom prst="rect">
            <a:avLst/>
          </a:prstGeom>
        </p:spPr>
      </p:pic>
    </p:spTree>
    <p:extLst>
      <p:ext uri="{BB962C8B-B14F-4D97-AF65-F5344CB8AC3E}">
        <p14:creationId xmlns:p14="http://schemas.microsoft.com/office/powerpoint/2010/main" val="32040142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B2D3A-C389-46F6-AAAA-A93CBEDB6B10}"/>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3C061A52-661E-4391-9AC4-93782D8D91B1}"/>
              </a:ext>
            </a:extLst>
          </p:cNvPr>
          <p:cNvSpPr>
            <a:spLocks noGrp="1"/>
          </p:cNvSpPr>
          <p:nvPr>
            <p:ph idx="1"/>
          </p:nvPr>
        </p:nvSpPr>
        <p:spPr/>
        <p:txBody>
          <a:bodyPr/>
          <a:lstStyle/>
          <a:p>
            <a:r>
              <a:rPr lang="en-US" sz="2400" dirty="0"/>
              <a:t>Object Types</a:t>
            </a:r>
            <a:br>
              <a:rPr lang="en-US" dirty="0"/>
            </a:br>
            <a:endParaRPr lang="en-US" dirty="0"/>
          </a:p>
          <a:p>
            <a:endParaRPr lang="en-US" dirty="0"/>
          </a:p>
          <a:p>
            <a:endParaRPr lang="en-US" dirty="0"/>
          </a:p>
          <a:p>
            <a:r>
              <a:rPr lang="en-US" sz="2000" dirty="0"/>
              <a:t>Optional Prop:</a:t>
            </a:r>
            <a:br>
              <a:rPr lang="en-US" dirty="0"/>
            </a:br>
            <a:endParaRPr lang="en-US" dirty="0"/>
          </a:p>
        </p:txBody>
      </p:sp>
      <p:pic>
        <p:nvPicPr>
          <p:cNvPr id="5" name="Picture 4">
            <a:extLst>
              <a:ext uri="{FF2B5EF4-FFF2-40B4-BE49-F238E27FC236}">
                <a16:creationId xmlns:a16="http://schemas.microsoft.com/office/drawing/2014/main" id="{A8CF2C36-00DD-46A5-B3B0-D98232DC3353}"/>
              </a:ext>
            </a:extLst>
          </p:cNvPr>
          <p:cNvPicPr>
            <a:picLocks noChangeAspect="1"/>
          </p:cNvPicPr>
          <p:nvPr/>
        </p:nvPicPr>
        <p:blipFill>
          <a:blip r:embed="rId2"/>
          <a:stretch>
            <a:fillRect/>
          </a:stretch>
        </p:blipFill>
        <p:spPr>
          <a:xfrm>
            <a:off x="611560" y="1819275"/>
            <a:ext cx="6984776" cy="1184523"/>
          </a:xfrm>
          <a:prstGeom prst="rect">
            <a:avLst/>
          </a:prstGeom>
        </p:spPr>
      </p:pic>
      <p:pic>
        <p:nvPicPr>
          <p:cNvPr id="7" name="Picture 6">
            <a:extLst>
              <a:ext uri="{FF2B5EF4-FFF2-40B4-BE49-F238E27FC236}">
                <a16:creationId xmlns:a16="http://schemas.microsoft.com/office/drawing/2014/main" id="{57EAC72A-75BA-4A67-8BC5-081CF108AC4C}"/>
              </a:ext>
            </a:extLst>
          </p:cNvPr>
          <p:cNvPicPr>
            <a:picLocks noChangeAspect="1"/>
          </p:cNvPicPr>
          <p:nvPr/>
        </p:nvPicPr>
        <p:blipFill>
          <a:blip r:embed="rId3"/>
          <a:stretch>
            <a:fillRect/>
          </a:stretch>
        </p:blipFill>
        <p:spPr>
          <a:xfrm>
            <a:off x="539553" y="3633714"/>
            <a:ext cx="7056784" cy="1386307"/>
          </a:xfrm>
          <a:prstGeom prst="rect">
            <a:avLst/>
          </a:prstGeom>
        </p:spPr>
      </p:pic>
    </p:spTree>
    <p:extLst>
      <p:ext uri="{BB962C8B-B14F-4D97-AF65-F5344CB8AC3E}">
        <p14:creationId xmlns:p14="http://schemas.microsoft.com/office/powerpoint/2010/main" val="2145296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A6B36-29E7-4F45-8777-E800FE20FE46}"/>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022A180D-D16E-4EF7-886D-890C0FAA3899}"/>
              </a:ext>
            </a:extLst>
          </p:cNvPr>
          <p:cNvSpPr>
            <a:spLocks noGrp="1"/>
          </p:cNvSpPr>
          <p:nvPr>
            <p:ph idx="1"/>
          </p:nvPr>
        </p:nvSpPr>
        <p:spPr/>
        <p:txBody>
          <a:bodyPr/>
          <a:lstStyle/>
          <a:p>
            <a:r>
              <a:rPr lang="en-US" sz="2000" dirty="0"/>
              <a:t>Union Types</a:t>
            </a:r>
            <a:r>
              <a:rPr lang="fa-IR" sz="2000" dirty="0"/>
              <a:t> </a:t>
            </a:r>
            <a:r>
              <a:rPr lang="en-US" sz="2000" dirty="0"/>
              <a:t>(literal types)</a:t>
            </a:r>
            <a:br>
              <a:rPr lang="en-US" sz="2000" dirty="0"/>
            </a:br>
            <a:r>
              <a:rPr lang="en-US" sz="1800" dirty="0"/>
              <a:t>TypeScript’s type system allows you to build new types out of existing ones using a large variety of operators. Now that we know how to write a few types, it’s time to start combining them in interesting ways.</a:t>
            </a:r>
            <a:br>
              <a:rPr lang="en-US" sz="1800" dirty="0"/>
            </a:br>
            <a:endParaRPr lang="en-US" sz="2000" dirty="0"/>
          </a:p>
        </p:txBody>
      </p:sp>
      <p:pic>
        <p:nvPicPr>
          <p:cNvPr id="5" name="Picture 4">
            <a:extLst>
              <a:ext uri="{FF2B5EF4-FFF2-40B4-BE49-F238E27FC236}">
                <a16:creationId xmlns:a16="http://schemas.microsoft.com/office/drawing/2014/main" id="{E99AD9A2-DC1F-44C5-9855-5DE9558ED413}"/>
              </a:ext>
            </a:extLst>
          </p:cNvPr>
          <p:cNvPicPr>
            <a:picLocks noChangeAspect="1"/>
          </p:cNvPicPr>
          <p:nvPr/>
        </p:nvPicPr>
        <p:blipFill>
          <a:blip r:embed="rId2"/>
          <a:stretch>
            <a:fillRect/>
          </a:stretch>
        </p:blipFill>
        <p:spPr>
          <a:xfrm>
            <a:off x="827584" y="2427487"/>
            <a:ext cx="7632848" cy="2167136"/>
          </a:xfrm>
          <a:prstGeom prst="rect">
            <a:avLst/>
          </a:prstGeom>
        </p:spPr>
      </p:pic>
    </p:spTree>
    <p:extLst>
      <p:ext uri="{BB962C8B-B14F-4D97-AF65-F5344CB8AC3E}">
        <p14:creationId xmlns:p14="http://schemas.microsoft.com/office/powerpoint/2010/main" val="24375424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8193-6A43-40C4-8A7E-54287F66E667}"/>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CC1A9987-AE53-45EB-8249-3F76B71DA8B8}"/>
              </a:ext>
            </a:extLst>
          </p:cNvPr>
          <p:cNvSpPr>
            <a:spLocks noGrp="1"/>
          </p:cNvSpPr>
          <p:nvPr>
            <p:ph idx="1"/>
          </p:nvPr>
        </p:nvSpPr>
        <p:spPr/>
        <p:txBody>
          <a:bodyPr/>
          <a:lstStyle/>
          <a:p>
            <a:r>
              <a:rPr lang="en-US" sz="2000" dirty="0"/>
              <a:t>Type Aliases:</a:t>
            </a:r>
            <a:br>
              <a:rPr lang="en-US" dirty="0"/>
            </a:br>
            <a:r>
              <a:rPr lang="en-US" sz="1600" dirty="0"/>
              <a:t>We’ve been using object types and union types by writing them directly in type annotations. This is convenient, but it’s common to want to use the same type more than once and refer to it by a single name.</a:t>
            </a:r>
            <a:br>
              <a:rPr lang="en-US" sz="1600" dirty="0"/>
            </a:br>
            <a:r>
              <a:rPr lang="en-US" sz="1600" dirty="0"/>
              <a:t>A type alias is exactly that - a name for any type. The syntax for a type alias is:</a:t>
            </a:r>
            <a:endParaRPr lang="en-US" dirty="0"/>
          </a:p>
        </p:txBody>
      </p:sp>
      <p:pic>
        <p:nvPicPr>
          <p:cNvPr id="5" name="Picture 4">
            <a:extLst>
              <a:ext uri="{FF2B5EF4-FFF2-40B4-BE49-F238E27FC236}">
                <a16:creationId xmlns:a16="http://schemas.microsoft.com/office/drawing/2014/main" id="{8882BA20-B940-4697-BA56-52FC0B23ED71}"/>
              </a:ext>
            </a:extLst>
          </p:cNvPr>
          <p:cNvPicPr>
            <a:picLocks noChangeAspect="1"/>
          </p:cNvPicPr>
          <p:nvPr/>
        </p:nvPicPr>
        <p:blipFill>
          <a:blip r:embed="rId2"/>
          <a:stretch>
            <a:fillRect/>
          </a:stretch>
        </p:blipFill>
        <p:spPr>
          <a:xfrm>
            <a:off x="899592" y="2643758"/>
            <a:ext cx="4914900" cy="2266550"/>
          </a:xfrm>
          <a:prstGeom prst="rect">
            <a:avLst/>
          </a:prstGeom>
        </p:spPr>
      </p:pic>
    </p:spTree>
    <p:extLst>
      <p:ext uri="{BB962C8B-B14F-4D97-AF65-F5344CB8AC3E}">
        <p14:creationId xmlns:p14="http://schemas.microsoft.com/office/powerpoint/2010/main" val="7528042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E4D11-BD03-4FE1-B39F-2A75FFB4A19B}"/>
              </a:ext>
            </a:extLst>
          </p:cNvPr>
          <p:cNvSpPr>
            <a:spLocks noGrp="1"/>
          </p:cNvSpPr>
          <p:nvPr>
            <p:ph type="title"/>
          </p:nvPr>
        </p:nvSpPr>
        <p:spPr/>
        <p:txBody>
          <a:bodyPr/>
          <a:lstStyle/>
          <a:p>
            <a:r>
              <a:rPr lang="en-US" dirty="0"/>
              <a:t>Features</a:t>
            </a:r>
          </a:p>
        </p:txBody>
      </p:sp>
      <p:sp>
        <p:nvSpPr>
          <p:cNvPr id="3" name="Content Placeholder 2">
            <a:extLst>
              <a:ext uri="{FF2B5EF4-FFF2-40B4-BE49-F238E27FC236}">
                <a16:creationId xmlns:a16="http://schemas.microsoft.com/office/drawing/2014/main" id="{69413518-5FFE-4CBE-AA72-DF06818A4C7D}"/>
              </a:ext>
            </a:extLst>
          </p:cNvPr>
          <p:cNvSpPr>
            <a:spLocks noGrp="1"/>
          </p:cNvSpPr>
          <p:nvPr>
            <p:ph idx="1"/>
          </p:nvPr>
        </p:nvSpPr>
        <p:spPr/>
        <p:txBody>
          <a:bodyPr/>
          <a:lstStyle/>
          <a:p>
            <a:r>
              <a:rPr lang="en-US" sz="2400" dirty="0"/>
              <a:t>Interface</a:t>
            </a:r>
          </a:p>
          <a:p>
            <a:r>
              <a:rPr lang="en-US" sz="1800" dirty="0"/>
              <a:t>An interface </a:t>
            </a:r>
            <a:r>
              <a:rPr lang="en-US" sz="1800" dirty="0" err="1"/>
              <a:t>declarati</a:t>
            </a:r>
            <a:br>
              <a:rPr lang="en-US" sz="1800" dirty="0"/>
            </a:br>
            <a:r>
              <a:rPr lang="en-US" sz="1800" dirty="0"/>
              <a:t>on is another way to name an object type</a:t>
            </a:r>
            <a:endParaRPr lang="en-US" sz="2400" dirty="0"/>
          </a:p>
        </p:txBody>
      </p:sp>
      <p:pic>
        <p:nvPicPr>
          <p:cNvPr id="5" name="Picture 4">
            <a:extLst>
              <a:ext uri="{FF2B5EF4-FFF2-40B4-BE49-F238E27FC236}">
                <a16:creationId xmlns:a16="http://schemas.microsoft.com/office/drawing/2014/main" id="{37B140F6-DABD-42CF-B624-CD400140E693}"/>
              </a:ext>
            </a:extLst>
          </p:cNvPr>
          <p:cNvPicPr>
            <a:picLocks noChangeAspect="1"/>
          </p:cNvPicPr>
          <p:nvPr/>
        </p:nvPicPr>
        <p:blipFill>
          <a:blip r:embed="rId2"/>
          <a:stretch>
            <a:fillRect/>
          </a:stretch>
        </p:blipFill>
        <p:spPr>
          <a:xfrm>
            <a:off x="485780" y="2355726"/>
            <a:ext cx="7830254" cy="2310905"/>
          </a:xfrm>
          <a:prstGeom prst="rect">
            <a:avLst/>
          </a:prstGeom>
        </p:spPr>
      </p:pic>
    </p:spTree>
    <p:extLst>
      <p:ext uri="{BB962C8B-B14F-4D97-AF65-F5344CB8AC3E}">
        <p14:creationId xmlns:p14="http://schemas.microsoft.com/office/powerpoint/2010/main" val="13300793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24D90-2842-480D-A54B-DD3C61565A66}"/>
              </a:ext>
            </a:extLst>
          </p:cNvPr>
          <p:cNvSpPr>
            <a:spLocks noGrp="1"/>
          </p:cNvSpPr>
          <p:nvPr>
            <p:ph type="title"/>
          </p:nvPr>
        </p:nvSpPr>
        <p:spPr/>
        <p:txBody>
          <a:bodyPr/>
          <a:lstStyle/>
          <a:p>
            <a:r>
              <a:rPr lang="en-US" sz="3200" b="0" i="0" dirty="0">
                <a:effectLst/>
                <a:latin typeface="Segoe UI Web (West European)"/>
              </a:rPr>
              <a:t>Hot Discussion</a:t>
            </a:r>
            <a:endParaRPr lang="en-US" sz="3200" dirty="0"/>
          </a:p>
        </p:txBody>
      </p:sp>
      <p:sp>
        <p:nvSpPr>
          <p:cNvPr id="3" name="Content Placeholder 2">
            <a:extLst>
              <a:ext uri="{FF2B5EF4-FFF2-40B4-BE49-F238E27FC236}">
                <a16:creationId xmlns:a16="http://schemas.microsoft.com/office/drawing/2014/main" id="{BA6224F9-C8D9-427D-B34A-8B605B61A69A}"/>
              </a:ext>
            </a:extLst>
          </p:cNvPr>
          <p:cNvSpPr>
            <a:spLocks noGrp="1"/>
          </p:cNvSpPr>
          <p:nvPr>
            <p:ph idx="1"/>
          </p:nvPr>
        </p:nvSpPr>
        <p:spPr/>
        <p:txBody>
          <a:bodyPr/>
          <a:lstStyle/>
          <a:p>
            <a:r>
              <a:rPr lang="en-US" sz="2000" b="0" i="0" dirty="0">
                <a:effectLst/>
                <a:latin typeface="Segoe UI Web (West European)"/>
              </a:rPr>
              <a:t>Differences Between Type Aliases and Interfaces</a:t>
            </a:r>
          </a:p>
          <a:p>
            <a:pPr marL="0" indent="0">
              <a:buNone/>
            </a:pPr>
            <a:r>
              <a:rPr lang="en-US" sz="1800" b="0" i="0" dirty="0">
                <a:effectLst/>
                <a:latin typeface="Segoe UI Web (West European)"/>
              </a:rPr>
              <a:t>the key distinction is that a type cannot be re-opened to add new properties vs an interface which is always extendable.</a:t>
            </a:r>
          </a:p>
          <a:p>
            <a:pPr marL="0" indent="0">
              <a:buNone/>
            </a:pPr>
            <a:endParaRPr lang="en-US" dirty="0"/>
          </a:p>
        </p:txBody>
      </p:sp>
      <p:pic>
        <p:nvPicPr>
          <p:cNvPr id="5" name="Picture 4">
            <a:extLst>
              <a:ext uri="{FF2B5EF4-FFF2-40B4-BE49-F238E27FC236}">
                <a16:creationId xmlns:a16="http://schemas.microsoft.com/office/drawing/2014/main" id="{3E4C4C5C-4647-4C77-9D63-261037A26A95}"/>
              </a:ext>
            </a:extLst>
          </p:cNvPr>
          <p:cNvPicPr>
            <a:picLocks noChangeAspect="1"/>
          </p:cNvPicPr>
          <p:nvPr/>
        </p:nvPicPr>
        <p:blipFill>
          <a:blip r:embed="rId2"/>
          <a:stretch>
            <a:fillRect/>
          </a:stretch>
        </p:blipFill>
        <p:spPr>
          <a:xfrm>
            <a:off x="539552" y="2211710"/>
            <a:ext cx="6610127" cy="2592288"/>
          </a:xfrm>
          <a:prstGeom prst="rect">
            <a:avLst/>
          </a:prstGeom>
        </p:spPr>
      </p:pic>
    </p:spTree>
    <p:extLst>
      <p:ext uri="{BB962C8B-B14F-4D97-AF65-F5344CB8AC3E}">
        <p14:creationId xmlns:p14="http://schemas.microsoft.com/office/powerpoint/2010/main" val="2896119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2B62E-15B5-4FBA-8FE7-56B8BD0EB4C7}"/>
              </a:ext>
            </a:extLst>
          </p:cNvPr>
          <p:cNvSpPr>
            <a:spLocks noGrp="1"/>
          </p:cNvSpPr>
          <p:nvPr>
            <p:ph type="title"/>
          </p:nvPr>
        </p:nvSpPr>
        <p:spPr>
          <a:xfrm>
            <a:off x="457201" y="204787"/>
            <a:ext cx="7843192" cy="566763"/>
          </a:xfrm>
        </p:spPr>
        <p:txBody>
          <a:bodyPr/>
          <a:lstStyle/>
          <a:p>
            <a:r>
              <a:rPr lang="en-US" sz="3600" b="0" i="0" dirty="0">
                <a:effectLst/>
                <a:latin typeface="Segoe UI Web (West European)"/>
              </a:rPr>
              <a:t>Hot Discussion</a:t>
            </a:r>
            <a:endParaRPr lang="en-US" dirty="0"/>
          </a:p>
        </p:txBody>
      </p:sp>
      <p:pic>
        <p:nvPicPr>
          <p:cNvPr id="5" name="Content Placeholder 4">
            <a:extLst>
              <a:ext uri="{FF2B5EF4-FFF2-40B4-BE49-F238E27FC236}">
                <a16:creationId xmlns:a16="http://schemas.microsoft.com/office/drawing/2014/main" id="{48A5DFD6-CF22-4034-A279-3417EEFA9783}"/>
              </a:ext>
            </a:extLst>
          </p:cNvPr>
          <p:cNvPicPr>
            <a:picLocks noGrp="1" noChangeAspect="1"/>
          </p:cNvPicPr>
          <p:nvPr>
            <p:ph idx="1"/>
          </p:nvPr>
        </p:nvPicPr>
        <p:blipFill>
          <a:blip r:embed="rId3"/>
          <a:stretch>
            <a:fillRect/>
          </a:stretch>
        </p:blipFill>
        <p:spPr>
          <a:xfrm>
            <a:off x="457201" y="771550"/>
            <a:ext cx="3754759" cy="3960439"/>
          </a:xfrm>
        </p:spPr>
      </p:pic>
      <p:sp>
        <p:nvSpPr>
          <p:cNvPr id="6" name="Text Placeholder 5">
            <a:extLst>
              <a:ext uri="{FF2B5EF4-FFF2-40B4-BE49-F238E27FC236}">
                <a16:creationId xmlns:a16="http://schemas.microsoft.com/office/drawing/2014/main" id="{E065B838-A3A5-422C-AC8F-4A913F885D9F}"/>
              </a:ext>
            </a:extLst>
          </p:cNvPr>
          <p:cNvSpPr>
            <a:spLocks noGrp="1"/>
          </p:cNvSpPr>
          <p:nvPr>
            <p:ph type="body" sz="half" idx="2"/>
          </p:nvPr>
        </p:nvSpPr>
        <p:spPr>
          <a:xfrm>
            <a:off x="4355976" y="771550"/>
            <a:ext cx="3944417" cy="4104456"/>
          </a:xfrm>
        </p:spPr>
        <p:txBody>
          <a:bodyPr/>
          <a:lstStyle/>
          <a:p>
            <a:pPr marL="285750" indent="-285750">
              <a:buFontTx/>
              <a:buChar char="-"/>
            </a:pPr>
            <a:r>
              <a:rPr lang="en-US" sz="1600" dirty="0">
                <a:solidFill>
                  <a:srgbClr val="C00000"/>
                </a:solidFill>
              </a:rPr>
              <a:t>consider using type for your React Component Props and State, for consistency and because it is more constrained.</a:t>
            </a:r>
          </a:p>
          <a:p>
            <a:pPr marL="285750" indent="-285750">
              <a:buFontTx/>
              <a:buChar char="-"/>
            </a:pPr>
            <a:r>
              <a:rPr lang="en-US" sz="1600" dirty="0">
                <a:solidFill>
                  <a:schemeClr val="accent1">
                    <a:lumMod val="75000"/>
                  </a:schemeClr>
                </a:solidFill>
              </a:rPr>
              <a:t>always use interface for public API's definition when authoring a library or 3rd party ambient type definitions, as this allows a consumer to extend them via declaration merging if some definitions are missing.</a:t>
            </a:r>
            <a:endParaRPr lang="en-US" sz="1600" dirty="0">
              <a:solidFill>
                <a:srgbClr val="C00000"/>
              </a:solidFill>
            </a:endParaRPr>
          </a:p>
          <a:p>
            <a:pPr marL="285750" indent="-285750">
              <a:buFontTx/>
              <a:buChar char="-"/>
            </a:pPr>
            <a:r>
              <a:rPr lang="en-US" sz="1600" dirty="0">
                <a:solidFill>
                  <a:srgbClr val="C00000"/>
                </a:solidFill>
              </a:rPr>
              <a:t>Types are useful for union types (e.g. type </a:t>
            </a:r>
            <a:r>
              <a:rPr lang="en-US" sz="1600" dirty="0" err="1">
                <a:solidFill>
                  <a:srgbClr val="C00000"/>
                </a:solidFill>
              </a:rPr>
              <a:t>MyType</a:t>
            </a:r>
            <a:r>
              <a:rPr lang="en-US" sz="1600" dirty="0">
                <a:solidFill>
                  <a:srgbClr val="C00000"/>
                </a:solidFill>
              </a:rPr>
              <a:t> = </a:t>
            </a:r>
            <a:r>
              <a:rPr lang="en-US" sz="1600" dirty="0" err="1">
                <a:solidFill>
                  <a:srgbClr val="C00000"/>
                </a:solidFill>
              </a:rPr>
              <a:t>TypeA</a:t>
            </a:r>
            <a:r>
              <a:rPr lang="en-US" sz="1600" dirty="0">
                <a:solidFill>
                  <a:srgbClr val="C00000"/>
                </a:solidFill>
              </a:rPr>
              <a:t> | </a:t>
            </a:r>
            <a:r>
              <a:rPr lang="en-US" sz="1600" dirty="0" err="1">
                <a:solidFill>
                  <a:srgbClr val="C00000"/>
                </a:solidFill>
              </a:rPr>
              <a:t>TypeB</a:t>
            </a:r>
            <a:r>
              <a:rPr lang="en-US" sz="1600" dirty="0">
                <a:solidFill>
                  <a:srgbClr val="C00000"/>
                </a:solidFill>
              </a:rPr>
              <a:t>)</a:t>
            </a:r>
            <a:r>
              <a:rPr lang="en-US" sz="1600" dirty="0"/>
              <a:t> </a:t>
            </a:r>
            <a:r>
              <a:rPr lang="en-US" sz="1600" dirty="0">
                <a:solidFill>
                  <a:schemeClr val="tx2"/>
                </a:solidFill>
              </a:rPr>
              <a:t>whereas Interfaces are better for declaring dictionary shapes and then implementing or extending them.</a:t>
            </a:r>
          </a:p>
        </p:txBody>
      </p:sp>
    </p:spTree>
    <p:extLst>
      <p:ext uri="{BB962C8B-B14F-4D97-AF65-F5344CB8AC3E}">
        <p14:creationId xmlns:p14="http://schemas.microsoft.com/office/powerpoint/2010/main" val="3176603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28D9888-A561-4D15-BEE7-5D4B7D15337F}"/>
              </a:ext>
            </a:extLst>
          </p:cNvPr>
          <p:cNvSpPr>
            <a:spLocks noGrp="1"/>
          </p:cNvSpPr>
          <p:nvPr>
            <p:ph type="title"/>
          </p:nvPr>
        </p:nvSpPr>
        <p:spPr/>
        <p:txBody>
          <a:bodyPr/>
          <a:lstStyle/>
          <a:p>
            <a:r>
              <a:rPr lang="en-US" dirty="0"/>
              <a:t>Type Assertions</a:t>
            </a:r>
          </a:p>
        </p:txBody>
      </p:sp>
      <p:sp>
        <p:nvSpPr>
          <p:cNvPr id="10" name="Content Placeholder 9">
            <a:extLst>
              <a:ext uri="{FF2B5EF4-FFF2-40B4-BE49-F238E27FC236}">
                <a16:creationId xmlns:a16="http://schemas.microsoft.com/office/drawing/2014/main" id="{32830648-8A2B-423D-A8DB-0119658D3596}"/>
              </a:ext>
            </a:extLst>
          </p:cNvPr>
          <p:cNvSpPr>
            <a:spLocks noGrp="1"/>
          </p:cNvSpPr>
          <p:nvPr>
            <p:ph idx="1"/>
          </p:nvPr>
        </p:nvSpPr>
        <p:spPr>
          <a:xfrm>
            <a:off x="457200" y="884466"/>
            <a:ext cx="8229600" cy="3710157"/>
          </a:xfrm>
        </p:spPr>
        <p:txBody>
          <a:bodyPr/>
          <a:lstStyle/>
          <a:p>
            <a:r>
              <a:rPr lang="en-US" sz="1800" dirty="0"/>
              <a:t>Sometimes you will have information about the type of a value that TypeScript can’t know about. For example, if you’re using </a:t>
            </a:r>
            <a:r>
              <a:rPr lang="en-US" sz="1800" dirty="0" err="1"/>
              <a:t>document.getElementById</a:t>
            </a:r>
            <a:r>
              <a:rPr lang="en-US" sz="1800" dirty="0"/>
              <a:t>, TypeScript only knows that this will return some kind of </a:t>
            </a:r>
            <a:r>
              <a:rPr lang="en-US" sz="1800" dirty="0" err="1"/>
              <a:t>HTMLElement</a:t>
            </a:r>
            <a:r>
              <a:rPr lang="en-US" sz="1800" dirty="0"/>
              <a:t>, but you might know that your page will always have an </a:t>
            </a:r>
            <a:r>
              <a:rPr lang="en-US" sz="1800" dirty="0" err="1"/>
              <a:t>HTMLCanvasElement</a:t>
            </a:r>
            <a:r>
              <a:rPr lang="en-US" sz="1800" dirty="0"/>
              <a:t> with a given ID.</a:t>
            </a:r>
            <a:endParaRPr lang="fa-IR" sz="1800" dirty="0"/>
          </a:p>
          <a:p>
            <a:r>
              <a:rPr lang="en-US" sz="1800" dirty="0"/>
              <a:t>In this situation, you can use a type assertion to specify a more specific type:</a:t>
            </a:r>
            <a:endParaRPr lang="fa-IR" sz="1800" dirty="0"/>
          </a:p>
          <a:p>
            <a:endParaRPr lang="en-US" sz="1800" dirty="0"/>
          </a:p>
        </p:txBody>
      </p:sp>
      <p:pic>
        <p:nvPicPr>
          <p:cNvPr id="12" name="Picture 11">
            <a:extLst>
              <a:ext uri="{FF2B5EF4-FFF2-40B4-BE49-F238E27FC236}">
                <a16:creationId xmlns:a16="http://schemas.microsoft.com/office/drawing/2014/main" id="{23067EEA-69E1-43FC-A9D7-90BFC6F1D8B4}"/>
              </a:ext>
            </a:extLst>
          </p:cNvPr>
          <p:cNvPicPr>
            <a:picLocks noChangeAspect="1"/>
          </p:cNvPicPr>
          <p:nvPr/>
        </p:nvPicPr>
        <p:blipFill>
          <a:blip r:embed="rId2"/>
          <a:stretch>
            <a:fillRect/>
          </a:stretch>
        </p:blipFill>
        <p:spPr>
          <a:xfrm>
            <a:off x="611561" y="3147814"/>
            <a:ext cx="8075240" cy="609600"/>
          </a:xfrm>
          <a:prstGeom prst="rect">
            <a:avLst/>
          </a:prstGeom>
        </p:spPr>
      </p:pic>
    </p:spTree>
    <p:extLst>
      <p:ext uri="{BB962C8B-B14F-4D97-AF65-F5344CB8AC3E}">
        <p14:creationId xmlns:p14="http://schemas.microsoft.com/office/powerpoint/2010/main" val="2452227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8B174-8E90-4561-B981-1F42C014B08B}"/>
              </a:ext>
            </a:extLst>
          </p:cNvPr>
          <p:cNvSpPr>
            <a:spLocks noGrp="1"/>
          </p:cNvSpPr>
          <p:nvPr>
            <p:ph type="title"/>
          </p:nvPr>
        </p:nvSpPr>
        <p:spPr/>
        <p:txBody>
          <a:bodyPr/>
          <a:lstStyle/>
          <a:p>
            <a:r>
              <a:rPr lang="en-US" dirty="0"/>
              <a:t>Less </a:t>
            </a:r>
            <a:r>
              <a:rPr lang="en-US" dirty="0" err="1"/>
              <a:t>CommonTypes</a:t>
            </a:r>
            <a:endParaRPr lang="en-US" dirty="0"/>
          </a:p>
        </p:txBody>
      </p:sp>
      <p:sp>
        <p:nvSpPr>
          <p:cNvPr id="3" name="Content Placeholder 2">
            <a:extLst>
              <a:ext uri="{FF2B5EF4-FFF2-40B4-BE49-F238E27FC236}">
                <a16:creationId xmlns:a16="http://schemas.microsoft.com/office/drawing/2014/main" id="{6A2368D7-BDC6-44D4-9431-B53D985D450E}"/>
              </a:ext>
            </a:extLst>
          </p:cNvPr>
          <p:cNvSpPr>
            <a:spLocks noGrp="1"/>
          </p:cNvSpPr>
          <p:nvPr>
            <p:ph idx="1"/>
          </p:nvPr>
        </p:nvSpPr>
        <p:spPr/>
        <p:txBody>
          <a:bodyPr/>
          <a:lstStyle/>
          <a:p>
            <a:r>
              <a:rPr lang="en-US" sz="2400" dirty="0"/>
              <a:t>Enum:</a:t>
            </a:r>
          </a:p>
          <a:p>
            <a:endParaRPr lang="en-US" sz="2400" dirty="0"/>
          </a:p>
          <a:p>
            <a:endParaRPr lang="en-US" sz="2400" dirty="0"/>
          </a:p>
          <a:p>
            <a:endParaRPr lang="en-US" sz="2400" dirty="0"/>
          </a:p>
          <a:p>
            <a:r>
              <a:rPr lang="en-US" sz="2400" dirty="0" err="1"/>
              <a:t>Biginit</a:t>
            </a:r>
            <a:br>
              <a:rPr lang="en-US" sz="2400" dirty="0"/>
            </a:br>
            <a:endParaRPr lang="en-US" sz="2400" dirty="0"/>
          </a:p>
          <a:p>
            <a:endParaRPr lang="en-US" sz="2400" dirty="0"/>
          </a:p>
          <a:p>
            <a:r>
              <a:rPr lang="en-US" sz="2400" dirty="0"/>
              <a:t>Symbol</a:t>
            </a:r>
            <a:br>
              <a:rPr lang="en-US" dirty="0"/>
            </a:br>
            <a:endParaRPr lang="en-US" dirty="0"/>
          </a:p>
        </p:txBody>
      </p:sp>
      <p:pic>
        <p:nvPicPr>
          <p:cNvPr id="5" name="Picture 4">
            <a:extLst>
              <a:ext uri="{FF2B5EF4-FFF2-40B4-BE49-F238E27FC236}">
                <a16:creationId xmlns:a16="http://schemas.microsoft.com/office/drawing/2014/main" id="{55C00BBA-BC23-4C69-939A-9833D97435E2}"/>
              </a:ext>
            </a:extLst>
          </p:cNvPr>
          <p:cNvPicPr>
            <a:picLocks noChangeAspect="1"/>
          </p:cNvPicPr>
          <p:nvPr/>
        </p:nvPicPr>
        <p:blipFill>
          <a:blip r:embed="rId2"/>
          <a:stretch>
            <a:fillRect/>
          </a:stretch>
        </p:blipFill>
        <p:spPr>
          <a:xfrm>
            <a:off x="2709317" y="1000366"/>
            <a:ext cx="4978896" cy="1227956"/>
          </a:xfrm>
          <a:prstGeom prst="rect">
            <a:avLst/>
          </a:prstGeom>
        </p:spPr>
      </p:pic>
      <p:pic>
        <p:nvPicPr>
          <p:cNvPr id="7" name="Picture 6">
            <a:extLst>
              <a:ext uri="{FF2B5EF4-FFF2-40B4-BE49-F238E27FC236}">
                <a16:creationId xmlns:a16="http://schemas.microsoft.com/office/drawing/2014/main" id="{179AFCBD-B4B6-47EA-8E8D-C837E5FE0F04}"/>
              </a:ext>
            </a:extLst>
          </p:cNvPr>
          <p:cNvPicPr>
            <a:picLocks noChangeAspect="1"/>
          </p:cNvPicPr>
          <p:nvPr/>
        </p:nvPicPr>
        <p:blipFill>
          <a:blip r:embed="rId3"/>
          <a:stretch>
            <a:fillRect/>
          </a:stretch>
        </p:blipFill>
        <p:spPr>
          <a:xfrm>
            <a:off x="2709317" y="2428107"/>
            <a:ext cx="4978896" cy="1333500"/>
          </a:xfrm>
          <a:prstGeom prst="rect">
            <a:avLst/>
          </a:prstGeom>
        </p:spPr>
      </p:pic>
      <p:pic>
        <p:nvPicPr>
          <p:cNvPr id="9" name="Picture 8">
            <a:extLst>
              <a:ext uri="{FF2B5EF4-FFF2-40B4-BE49-F238E27FC236}">
                <a16:creationId xmlns:a16="http://schemas.microsoft.com/office/drawing/2014/main" id="{394DBF06-6BB0-4E87-95C0-BF7FA982D96C}"/>
              </a:ext>
            </a:extLst>
          </p:cNvPr>
          <p:cNvPicPr>
            <a:picLocks noChangeAspect="1"/>
          </p:cNvPicPr>
          <p:nvPr/>
        </p:nvPicPr>
        <p:blipFill>
          <a:blip r:embed="rId4"/>
          <a:stretch>
            <a:fillRect/>
          </a:stretch>
        </p:blipFill>
        <p:spPr>
          <a:xfrm>
            <a:off x="2709316" y="3872083"/>
            <a:ext cx="4978895" cy="1038225"/>
          </a:xfrm>
          <a:prstGeom prst="rect">
            <a:avLst/>
          </a:prstGeom>
        </p:spPr>
      </p:pic>
    </p:spTree>
    <p:extLst>
      <p:ext uri="{BB962C8B-B14F-4D97-AF65-F5344CB8AC3E}">
        <p14:creationId xmlns:p14="http://schemas.microsoft.com/office/powerpoint/2010/main" val="35335793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A38DC-F844-41ED-8C8E-0B39E3C5E1F2}"/>
              </a:ext>
            </a:extLst>
          </p:cNvPr>
          <p:cNvSpPr>
            <a:spLocks noGrp="1"/>
          </p:cNvSpPr>
          <p:nvPr>
            <p:ph type="title"/>
          </p:nvPr>
        </p:nvSpPr>
        <p:spPr/>
        <p:txBody>
          <a:bodyPr/>
          <a:lstStyle/>
          <a:p>
            <a:r>
              <a:rPr lang="en-US" dirty="0"/>
              <a:t>Some Other Features</a:t>
            </a:r>
          </a:p>
        </p:txBody>
      </p:sp>
      <p:sp>
        <p:nvSpPr>
          <p:cNvPr id="3" name="Content Placeholder 2">
            <a:extLst>
              <a:ext uri="{FF2B5EF4-FFF2-40B4-BE49-F238E27FC236}">
                <a16:creationId xmlns:a16="http://schemas.microsoft.com/office/drawing/2014/main" id="{E0CDFDA2-C069-41AA-B76A-3813F8967913}"/>
              </a:ext>
            </a:extLst>
          </p:cNvPr>
          <p:cNvSpPr>
            <a:spLocks noGrp="1"/>
          </p:cNvSpPr>
          <p:nvPr>
            <p:ph idx="1"/>
          </p:nvPr>
        </p:nvSpPr>
        <p:spPr/>
        <p:txBody>
          <a:bodyPr/>
          <a:lstStyle/>
          <a:p>
            <a:r>
              <a:rPr lang="en-US" dirty="0"/>
              <a:t>Generic </a:t>
            </a:r>
            <a:r>
              <a:rPr lang="en-US" dirty="0" err="1"/>
              <a:t>fucntions</a:t>
            </a:r>
            <a:endParaRPr lang="en-US" dirty="0"/>
          </a:p>
          <a:p>
            <a:r>
              <a:rPr lang="en-US" dirty="0" err="1"/>
              <a:t>Contraints</a:t>
            </a:r>
            <a:endParaRPr lang="en-US" dirty="0"/>
          </a:p>
          <a:p>
            <a:endParaRPr lang="en-US" dirty="0"/>
          </a:p>
        </p:txBody>
      </p:sp>
    </p:spTree>
    <p:extLst>
      <p:ext uri="{BB962C8B-B14F-4D97-AF65-F5344CB8AC3E}">
        <p14:creationId xmlns:p14="http://schemas.microsoft.com/office/powerpoint/2010/main" val="466214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14C6E-D38B-4896-B309-AADBBF3632FD}"/>
              </a:ext>
            </a:extLst>
          </p:cNvPr>
          <p:cNvSpPr>
            <a:spLocks noGrp="1"/>
          </p:cNvSpPr>
          <p:nvPr>
            <p:ph type="title"/>
          </p:nvPr>
        </p:nvSpPr>
        <p:spPr>
          <a:xfrm>
            <a:off x="1043608" y="0"/>
            <a:ext cx="8100392" cy="884466"/>
          </a:xfrm>
        </p:spPr>
        <p:txBody>
          <a:bodyPr/>
          <a:lstStyle/>
          <a:p>
            <a:r>
              <a:rPr lang="en-US" dirty="0"/>
              <a:t>Typescript In React</a:t>
            </a:r>
          </a:p>
        </p:txBody>
      </p:sp>
      <p:pic>
        <p:nvPicPr>
          <p:cNvPr id="5" name="Content Placeholder 4">
            <a:extLst>
              <a:ext uri="{FF2B5EF4-FFF2-40B4-BE49-F238E27FC236}">
                <a16:creationId xmlns:a16="http://schemas.microsoft.com/office/drawing/2014/main" id="{A828E1C1-1E4E-4B09-94DF-2FCD2F4BF3AA}"/>
              </a:ext>
            </a:extLst>
          </p:cNvPr>
          <p:cNvPicPr>
            <a:picLocks noGrp="1" noChangeAspect="1"/>
          </p:cNvPicPr>
          <p:nvPr>
            <p:ph idx="1"/>
          </p:nvPr>
        </p:nvPicPr>
        <p:blipFill>
          <a:blip r:embed="rId2"/>
          <a:stretch>
            <a:fillRect/>
          </a:stretch>
        </p:blipFill>
        <p:spPr>
          <a:xfrm>
            <a:off x="1115616" y="884466"/>
            <a:ext cx="7620000" cy="2381250"/>
          </a:xfrm>
        </p:spPr>
      </p:pic>
    </p:spTree>
    <p:extLst>
      <p:ext uri="{BB962C8B-B14F-4D97-AF65-F5344CB8AC3E}">
        <p14:creationId xmlns:p14="http://schemas.microsoft.com/office/powerpoint/2010/main" val="31766490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4A3E5-F980-49D3-982C-944CD2F99FB5}"/>
              </a:ext>
            </a:extLst>
          </p:cNvPr>
          <p:cNvSpPr>
            <a:spLocks noGrp="1"/>
          </p:cNvSpPr>
          <p:nvPr>
            <p:ph type="title"/>
          </p:nvPr>
        </p:nvSpPr>
        <p:spPr>
          <a:xfrm>
            <a:off x="1259632" y="0"/>
            <a:ext cx="7884368" cy="884466"/>
          </a:xfrm>
        </p:spPr>
        <p:txBody>
          <a:bodyPr/>
          <a:lstStyle/>
          <a:p>
            <a:r>
              <a:rPr lang="en-US" dirty="0"/>
              <a:t>Typescript In React</a:t>
            </a:r>
          </a:p>
        </p:txBody>
      </p:sp>
      <p:pic>
        <p:nvPicPr>
          <p:cNvPr id="4" name="Picture 3">
            <a:extLst>
              <a:ext uri="{FF2B5EF4-FFF2-40B4-BE49-F238E27FC236}">
                <a16:creationId xmlns:a16="http://schemas.microsoft.com/office/drawing/2014/main" id="{1A941F76-592C-4637-AC50-06D8516FE77D}"/>
              </a:ext>
            </a:extLst>
          </p:cNvPr>
          <p:cNvPicPr>
            <a:picLocks noChangeAspect="1"/>
          </p:cNvPicPr>
          <p:nvPr/>
        </p:nvPicPr>
        <p:blipFill>
          <a:blip r:embed="rId2"/>
          <a:stretch>
            <a:fillRect/>
          </a:stretch>
        </p:blipFill>
        <p:spPr>
          <a:xfrm>
            <a:off x="1371600" y="1200151"/>
            <a:ext cx="7448872" cy="2466975"/>
          </a:xfrm>
          <a:prstGeom prst="rect">
            <a:avLst/>
          </a:prstGeom>
        </p:spPr>
      </p:pic>
    </p:spTree>
    <p:extLst>
      <p:ext uri="{BB962C8B-B14F-4D97-AF65-F5344CB8AC3E}">
        <p14:creationId xmlns:p14="http://schemas.microsoft.com/office/powerpoint/2010/main" val="352789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3469B-697A-4A82-8ED5-771C6BDDFD75}"/>
              </a:ext>
            </a:extLst>
          </p:cNvPr>
          <p:cNvSpPr>
            <a:spLocks noGrp="1"/>
          </p:cNvSpPr>
          <p:nvPr>
            <p:ph type="title"/>
          </p:nvPr>
        </p:nvSpPr>
        <p:spPr/>
        <p:txBody>
          <a:bodyPr/>
          <a:lstStyle/>
          <a:p>
            <a:r>
              <a:rPr lang="en-US" dirty="0" err="1"/>
              <a:t>Refrences</a:t>
            </a:r>
            <a:endParaRPr lang="en-US" dirty="0"/>
          </a:p>
        </p:txBody>
      </p:sp>
      <p:sp>
        <p:nvSpPr>
          <p:cNvPr id="3" name="Content Placeholder 2">
            <a:extLst>
              <a:ext uri="{FF2B5EF4-FFF2-40B4-BE49-F238E27FC236}">
                <a16:creationId xmlns:a16="http://schemas.microsoft.com/office/drawing/2014/main" id="{F541AFD9-6D35-417D-88CB-8B1F97223422}"/>
              </a:ext>
            </a:extLst>
          </p:cNvPr>
          <p:cNvSpPr>
            <a:spLocks noGrp="1"/>
          </p:cNvSpPr>
          <p:nvPr>
            <p:ph idx="1"/>
          </p:nvPr>
        </p:nvSpPr>
        <p:spPr/>
        <p:txBody>
          <a:bodyPr/>
          <a:lstStyle/>
          <a:p>
            <a:r>
              <a:rPr lang="en-US" sz="2400" dirty="0">
                <a:hlinkClick r:id="rId2"/>
              </a:rPr>
              <a:t>https://www.typescriptlang.org/docs/handbook/intro.html</a:t>
            </a:r>
            <a:endParaRPr lang="en-US" sz="2400" dirty="0"/>
          </a:p>
          <a:p>
            <a:r>
              <a:rPr lang="en-US" dirty="0">
                <a:hlinkClick r:id="rId3"/>
              </a:rPr>
              <a:t>https://create-react-app.dev/docs/adding-typescript/</a:t>
            </a:r>
            <a:endParaRPr lang="fa-IR" dirty="0"/>
          </a:p>
          <a:p>
            <a:pPr marL="0" indent="0">
              <a:buNone/>
            </a:pPr>
            <a:endParaRPr lang="en-US" dirty="0"/>
          </a:p>
        </p:txBody>
      </p:sp>
    </p:spTree>
    <p:extLst>
      <p:ext uri="{BB962C8B-B14F-4D97-AF65-F5344CB8AC3E}">
        <p14:creationId xmlns:p14="http://schemas.microsoft.com/office/powerpoint/2010/main" val="27506798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7cef9594efe8aec39539a27944fa055d34218e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1875</TotalTime>
  <Words>1009</Words>
  <Application>Microsoft Office PowerPoint</Application>
  <PresentationFormat>On-screen Show (16:9)</PresentationFormat>
  <Paragraphs>89</Paragraphs>
  <Slides>23</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맑은 고딕</vt:lpstr>
      <vt:lpstr>Arial</vt:lpstr>
      <vt:lpstr>Calibri</vt:lpstr>
      <vt:lpstr>Cambria</vt:lpstr>
      <vt:lpstr>Segoe UI Web (West European)</vt:lpstr>
      <vt:lpstr>sohne</vt:lpstr>
      <vt:lpstr>Wingdings</vt:lpstr>
      <vt:lpstr>Office Theme</vt:lpstr>
      <vt:lpstr>PowerPoint Presentation</vt:lpstr>
      <vt:lpstr>Headlines</vt:lpstr>
      <vt:lpstr>Definiation</vt:lpstr>
      <vt:lpstr>Why TS</vt:lpstr>
      <vt:lpstr>Why TS</vt:lpstr>
      <vt:lpstr>Why TS</vt:lpstr>
      <vt:lpstr>Features</vt:lpstr>
      <vt:lpstr>Features</vt:lpstr>
      <vt:lpstr>Features</vt:lpstr>
      <vt:lpstr>Features</vt:lpstr>
      <vt:lpstr>Features</vt:lpstr>
      <vt:lpstr>Features</vt:lpstr>
      <vt:lpstr>Features</vt:lpstr>
      <vt:lpstr>Features</vt:lpstr>
      <vt:lpstr>Features</vt:lpstr>
      <vt:lpstr>Hot Discussion</vt:lpstr>
      <vt:lpstr>Hot Discussion</vt:lpstr>
      <vt:lpstr>Type Assertions</vt:lpstr>
      <vt:lpstr>Less CommonTypes</vt:lpstr>
      <vt:lpstr>Some Other Features</vt:lpstr>
      <vt:lpstr>Typescript In React</vt:lpstr>
      <vt:lpstr>Typescript In React</vt:lpstr>
      <vt:lpstr>Refrences</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Registered User</dc:creator>
  <cp:lastModifiedBy>shahrooz bazrafshan</cp:lastModifiedBy>
  <cp:revision>64</cp:revision>
  <dcterms:created xsi:type="dcterms:W3CDTF">2014-04-01T16:27:38Z</dcterms:created>
  <dcterms:modified xsi:type="dcterms:W3CDTF">2021-06-09T12:11:45Z</dcterms:modified>
</cp:coreProperties>
</file>